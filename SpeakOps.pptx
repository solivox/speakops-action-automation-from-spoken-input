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9" r:id="rId4"/>
    <p:sldId id="257" r:id="rId5"/>
    <p:sldId id="258" r:id="rId6"/>
    <p:sldId id="260" r:id="rId7"/>
    <p:sldId id="276" r:id="rId8"/>
    <p:sldId id="277" r:id="rId9"/>
    <p:sldId id="278" r:id="rId10"/>
    <p:sldId id="287" r:id="rId11"/>
    <p:sldId id="286" r:id="rId12"/>
    <p:sldId id="264" r:id="rId13"/>
    <p:sldId id="265" r:id="rId14"/>
    <p:sldId id="279" r:id="rId15"/>
    <p:sldId id="280" r:id="rId16"/>
    <p:sldId id="281" r:id="rId17"/>
    <p:sldId id="282" r:id="rId18"/>
    <p:sldId id="283" r:id="rId19"/>
    <p:sldId id="284" r:id="rId20"/>
    <p:sldId id="285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28600" y="167760"/>
            <a:ext cx="3256200" cy="156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65CCA182-8665-49A5-9797-F8B80AF9812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63720" y="3934080"/>
            <a:ext cx="435960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4782DCB0-084F-4598-A3B1-05B4BEBD994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3194640"/>
            <a:ext cx="3873960" cy="173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87480" y="33886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4587480" y="25732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587480" y="379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587480" y="420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4587480" y="21661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4587480" y="29808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587480" y="4611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587480" y="17586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0"/>
          <p:cNvSpPr>
            <a:spLocks noGrp="1"/>
          </p:cNvSpPr>
          <p:nvPr>
            <p:ph type="sldNum" idx="3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3E02CC72-FAE5-4C22-8294-32126908260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28600" y="43621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4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B7AE0341-A960-4A06-9258-57F01D47B4B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sldNum" idx="5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DEE35649-CB39-4726-B04E-04935D4E3D9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343320" y="3076200"/>
            <a:ext cx="3400200" cy="185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ldNum" idx="6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75F2C0C6-ABB3-4DCA-96F2-35CB61760765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4539960" cy="1093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343080" y="2571840"/>
            <a:ext cx="3141720" cy="223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3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sldNum" idx="7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A09C9DC9-C922-4950-88ED-A51F7A86A27A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01360" y="3379680"/>
            <a:ext cx="2731320" cy="15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228600" y="119556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228600" y="2102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218088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8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6FA2CF6C-3AA8-4544-93B2-13D65DE2BBF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3256200" cy="156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sldNum" idx="9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007A82E0-23F4-4609-8F31-7201A96286E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8001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10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2A065DF-F2BF-4FDB-9B31-BD6663C8F9F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Google Shape;111;p20"/>
          <p:cNvSpPr/>
          <p:nvPr/>
        </p:nvSpPr>
        <p:spPr>
          <a:xfrm>
            <a:off x="5655600" y="3925440"/>
            <a:ext cx="324648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just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Spline Sans"/>
                <a:ea typeface="Spline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801880" y="3453120"/>
            <a:ext cx="611316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28600" y="190080"/>
            <a:ext cx="165168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xx%</a:t>
            </a:r>
            <a:endParaRPr lang="fr-FR" sz="3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1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AB17714A-F383-4FF7-9CFE-44AFC87F71A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12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C0C96712-E149-4055-BD43-5784003A9B8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9" name="Google Shape;114;p21"/>
          <p:cNvGrpSpPr/>
          <p:nvPr/>
        </p:nvGrpSpPr>
        <p:grpSpPr>
          <a:xfrm>
            <a:off x="228600" y="228600"/>
            <a:ext cx="8686800" cy="4686120"/>
            <a:chOff x="228600" y="228600"/>
            <a:chExt cx="8686800" cy="4686120"/>
          </a:xfrm>
        </p:grpSpPr>
        <p:cxnSp>
          <p:nvCxnSpPr>
            <p:cNvPr id="40" name="Google Shape;115;p21"/>
            <p:cNvCxnSpPr/>
            <p:nvPr/>
          </p:nvCxnSpPr>
          <p:spPr>
            <a:xfrm>
              <a:off x="1321920" y="4248720"/>
              <a:ext cx="360" cy="666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1" name="Google Shape;116;p21"/>
            <p:cNvCxnSpPr/>
            <p:nvPr/>
          </p:nvCxnSpPr>
          <p:spPr>
            <a:xfrm>
              <a:off x="1321920" y="402012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42" name="Google Shape;117;p21"/>
            <p:cNvCxnSpPr/>
            <p:nvPr/>
          </p:nvCxnSpPr>
          <p:spPr>
            <a:xfrm flipH="1">
              <a:off x="1196640" y="413460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43" name="Google Shape;118;p21"/>
            <p:cNvCxnSpPr/>
            <p:nvPr/>
          </p:nvCxnSpPr>
          <p:spPr>
            <a:xfrm flipH="1">
              <a:off x="1321920" y="228600"/>
              <a:ext cx="1440" cy="37918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4" name="Google Shape;119;p21"/>
            <p:cNvCxnSpPr/>
            <p:nvPr/>
          </p:nvCxnSpPr>
          <p:spPr>
            <a:xfrm flipH="1">
              <a:off x="1425240" y="4134600"/>
              <a:ext cx="74905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5" name="Google Shape;120;p21"/>
            <p:cNvCxnSpPr/>
            <p:nvPr/>
          </p:nvCxnSpPr>
          <p:spPr>
            <a:xfrm flipH="1">
              <a:off x="228600" y="4134600"/>
              <a:ext cx="968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3"/>
          </p:nvPr>
        </p:nvSpPr>
        <p:spPr>
          <a:xfrm>
            <a:off x="1314360" y="17856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E4CC6A81-5759-4D62-8016-837D79907069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7" name="Google Shape;123;p22"/>
          <p:cNvGrpSpPr/>
          <p:nvPr/>
        </p:nvGrpSpPr>
        <p:grpSpPr>
          <a:xfrm>
            <a:off x="228240" y="228240"/>
            <a:ext cx="8687160" cy="4686480"/>
            <a:chOff x="228240" y="228240"/>
            <a:chExt cx="8687160" cy="4686480"/>
          </a:xfrm>
        </p:grpSpPr>
        <p:cxnSp>
          <p:nvCxnSpPr>
            <p:cNvPr id="48" name="Google Shape;124;p22"/>
            <p:cNvCxnSpPr/>
            <p:nvPr/>
          </p:nvCxnSpPr>
          <p:spPr>
            <a:xfrm flipV="1">
              <a:off x="2404800" y="228240"/>
              <a:ext cx="360" cy="666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49" name="Google Shape;125;p22"/>
            <p:cNvCxnSpPr/>
            <p:nvPr/>
          </p:nvCxnSpPr>
          <p:spPr>
            <a:xfrm flipV="1">
              <a:off x="2404800" y="89424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50" name="Google Shape;126;p22"/>
            <p:cNvCxnSpPr/>
            <p:nvPr/>
          </p:nvCxnSpPr>
          <p:spPr>
            <a:xfrm flipH="1">
              <a:off x="2279520" y="10087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51" name="Google Shape;127;p22"/>
            <p:cNvCxnSpPr/>
            <p:nvPr/>
          </p:nvCxnSpPr>
          <p:spPr>
            <a:xfrm flipH="1" flipV="1">
              <a:off x="2404800" y="1123200"/>
              <a:ext cx="1440" cy="379188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52" name="Google Shape;128;p22"/>
            <p:cNvCxnSpPr/>
            <p:nvPr/>
          </p:nvCxnSpPr>
          <p:spPr>
            <a:xfrm flipH="1">
              <a:off x="2507760" y="1008720"/>
              <a:ext cx="64080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53" name="Google Shape;129;p22"/>
            <p:cNvCxnSpPr/>
            <p:nvPr/>
          </p:nvCxnSpPr>
          <p:spPr>
            <a:xfrm flipH="1">
              <a:off x="228240" y="1008720"/>
              <a:ext cx="205164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228600" y="149868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sldNum" idx="14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B64C239-7904-4757-8E70-9F5B60E04936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3116520" cy="115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8" name="PlaceHolder 2"/>
          <p:cNvSpPr>
            <a:spLocks noGrp="1"/>
          </p:cNvSpPr>
          <p:nvPr>
            <p:ph type="sldNum" idx="15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9F5C0358-D015-49D0-8044-E98F6F072D91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76006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sldNum" idx="16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0</a:t>
            </a:r>
            <a:fld id="{690783B3-7520-47DF-B7EC-A0257EB128CC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10240"/>
            <a:ext cx="2169720" cy="1582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sldNum" idx="17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F847D8DF-5392-4184-9EA2-D230341A84B9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sldNum" idx="18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F70C4CF-DF8E-4EE1-9342-4E5A85FAC7D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3727440"/>
            <a:ext cx="434304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sldNum" idx="19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17560146-0546-49AD-BE11-9C0C17201371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25620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sldNum" idx="20"/>
          </p:nvPr>
        </p:nvSpPr>
        <p:spPr>
          <a:xfrm>
            <a:off x="7829640" y="228600"/>
            <a:ext cx="108576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7826DF75-C74E-4A9B-A77D-CD3EF32F2694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‹#›</a:t>
            </a:fld>
            <a:r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5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38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hyperlink" Target="vscode-file://vscode-app/c:/Users/NAYAN%20SHUKLA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Users/NAYAN%20SHUKLA/AppData/Local/Programs/Microsoft%20VS%20Code/resources/app/out/vs/code/electron-browser/workbench/workbench.html" TargetMode="Externa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145;p27"/>
          <p:cNvGrpSpPr/>
          <p:nvPr/>
        </p:nvGrpSpPr>
        <p:grpSpPr>
          <a:xfrm>
            <a:off x="212760" y="236520"/>
            <a:ext cx="8693280" cy="4674960"/>
            <a:chOff x="212760" y="236520"/>
            <a:chExt cx="8693280" cy="4674960"/>
          </a:xfrm>
        </p:grpSpPr>
        <p:cxnSp>
          <p:nvCxnSpPr>
            <p:cNvPr id="76" name="Google Shape;146;p27"/>
            <p:cNvCxnSpPr/>
            <p:nvPr/>
          </p:nvCxnSpPr>
          <p:spPr>
            <a:xfrm>
              <a:off x="4568040" y="2685960"/>
              <a:ext cx="360" cy="222552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77" name="Google Shape;147;p27"/>
            <p:cNvCxnSpPr/>
            <p:nvPr/>
          </p:nvCxnSpPr>
          <p:spPr>
            <a:xfrm>
              <a:off x="4568040" y="245736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78" name="Google Shape;148;p27"/>
            <p:cNvCxnSpPr/>
            <p:nvPr/>
          </p:nvCxnSpPr>
          <p:spPr>
            <a:xfrm>
              <a:off x="4464720" y="257148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79" name="Google Shape;149;p27"/>
            <p:cNvCxnSpPr/>
            <p:nvPr/>
          </p:nvCxnSpPr>
          <p:spPr>
            <a:xfrm>
              <a:off x="4568040" y="236520"/>
              <a:ext cx="360" cy="22212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0" name="Google Shape;150;p27"/>
            <p:cNvCxnSpPr/>
            <p:nvPr/>
          </p:nvCxnSpPr>
          <p:spPr>
            <a:xfrm>
              <a:off x="212760" y="2571480"/>
              <a:ext cx="42523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1" name="Google Shape;151;p27"/>
            <p:cNvCxnSpPr/>
            <p:nvPr/>
          </p:nvCxnSpPr>
          <p:spPr>
            <a:xfrm>
              <a:off x="4693320" y="2571480"/>
              <a:ext cx="421272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979753" y="560687"/>
            <a:ext cx="408003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dirty="0" err="1"/>
              <a:t>SpeakOps</a:t>
            </a:r>
            <a:r>
              <a:rPr lang="en-US" sz="2800" dirty="0"/>
              <a:t> : Voice Note to Action Automation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2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3130108-47C5-4988-AEB2-F4842A29EB2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62A6C838-FB0E-3824-3A23-91E9E79192EF}"/>
              </a:ext>
            </a:extLst>
          </p:cNvPr>
          <p:cNvSpPr txBox="1">
            <a:spLocks/>
          </p:cNvSpPr>
          <p:nvPr/>
        </p:nvSpPr>
        <p:spPr>
          <a:xfrm>
            <a:off x="6257310" y="1946790"/>
            <a:ext cx="3257280" cy="8002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dirty="0"/>
              <a:t>Transform spoken words into automated workflows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1511AF95-1CA2-35C5-BC4C-70A82E25F8B1}"/>
              </a:ext>
            </a:extLst>
          </p:cNvPr>
          <p:cNvSpPr txBox="1">
            <a:spLocks/>
          </p:cNvSpPr>
          <p:nvPr/>
        </p:nvSpPr>
        <p:spPr>
          <a:xfrm>
            <a:off x="1813783" y="597929"/>
            <a:ext cx="2621201" cy="11630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 err="1"/>
              <a:t>SpeakSpace</a:t>
            </a:r>
            <a:r>
              <a:rPr lang="en-IN" b="1" dirty="0"/>
              <a:t> Hackathon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7770C-D23A-A17A-F2C4-66844F65BEA5}"/>
              </a:ext>
            </a:extLst>
          </p:cNvPr>
          <p:cNvSpPr txBox="1"/>
          <p:nvPr/>
        </p:nvSpPr>
        <p:spPr>
          <a:xfrm>
            <a:off x="5806069" y="3954895"/>
            <a:ext cx="2987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Name : Nayan Kumar Shukla</a:t>
            </a:r>
          </a:p>
          <a:p>
            <a:r>
              <a:rPr lang="en-IN" sz="1600" dirty="0"/>
              <a:t>Date : 14 December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D0953E-DB96-7388-A132-B032DC98DF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45" y="560687"/>
            <a:ext cx="1163010" cy="1163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202;p29"/>
          <p:cNvGrpSpPr/>
          <p:nvPr/>
        </p:nvGrpSpPr>
        <p:grpSpPr>
          <a:xfrm>
            <a:off x="228600" y="164250"/>
            <a:ext cx="8686800" cy="4815000"/>
            <a:chOff x="228600" y="2449980"/>
            <a:chExt cx="8686800" cy="4815000"/>
          </a:xfrm>
        </p:grpSpPr>
        <p:cxnSp>
          <p:nvCxnSpPr>
            <p:cNvPr id="108" name="Google Shape;203;p29"/>
            <p:cNvCxnSpPr>
              <a:cxnSpLocks/>
            </p:cNvCxnSpPr>
            <p:nvPr/>
          </p:nvCxnSpPr>
          <p:spPr>
            <a:xfrm>
              <a:off x="4915582" y="2449980"/>
              <a:ext cx="0" cy="831475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09" name="Google Shape;204;p29"/>
            <p:cNvCxnSpPr/>
            <p:nvPr/>
          </p:nvCxnSpPr>
          <p:spPr>
            <a:xfrm>
              <a:off x="4915402" y="326395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10" name="Google Shape;205;p29"/>
            <p:cNvCxnSpPr/>
            <p:nvPr/>
          </p:nvCxnSpPr>
          <p:spPr>
            <a:xfrm>
              <a:off x="4801102" y="33470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11" name="Google Shape;206;p29"/>
            <p:cNvCxnSpPr>
              <a:cxnSpLocks/>
            </p:cNvCxnSpPr>
            <p:nvPr/>
          </p:nvCxnSpPr>
          <p:spPr>
            <a:xfrm>
              <a:off x="4915402" y="3492910"/>
              <a:ext cx="1620" cy="377207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2" name="Google Shape;207;p29"/>
            <p:cNvCxnSpPr>
              <a:cxnSpLocks/>
            </p:cNvCxnSpPr>
            <p:nvPr/>
          </p:nvCxnSpPr>
          <p:spPr>
            <a:xfrm flipV="1">
              <a:off x="228600" y="3347020"/>
              <a:ext cx="4572502" cy="53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3" name="Google Shape;208;p29"/>
            <p:cNvCxnSpPr>
              <a:cxnSpLocks/>
            </p:cNvCxnSpPr>
            <p:nvPr/>
          </p:nvCxnSpPr>
          <p:spPr>
            <a:xfrm>
              <a:off x="5030062" y="3347020"/>
              <a:ext cx="3885338" cy="56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71800" y="66360"/>
            <a:ext cx="3400200" cy="9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Problem with voice notes utilization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228240" y="1535780"/>
            <a:ext cx="4908395" cy="25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The Voice Note Paradox: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/>
              <a:t>Voice is the fastest input method, but notes sit idle</a:t>
            </a:r>
          </a:p>
          <a:p>
            <a:pPr>
              <a:lnSpc>
                <a:spcPct val="170000"/>
              </a:lnSpc>
            </a:pPr>
            <a:r>
              <a:rPr lang="en-US" dirty="0"/>
              <a:t>78% of voice notes never reviewed after 48 hours</a:t>
            </a:r>
          </a:p>
          <a:p>
            <a:pPr>
              <a:lnSpc>
                <a:spcPct val="170000"/>
              </a:lnSpc>
            </a:pPr>
            <a:r>
              <a:rPr lang="en-US" dirty="0"/>
              <a:t>Average user has 150+ unprocessed voice memos.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Pain Points: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/>
              <a:t>📝 </a:t>
            </a:r>
            <a:r>
              <a:rPr lang="en-US" b="1" dirty="0"/>
              <a:t>Lost Ideas</a:t>
            </a:r>
            <a:r>
              <a:rPr lang="en-US" dirty="0"/>
              <a:t>: Great thoughts captured, never executed</a:t>
            </a:r>
          </a:p>
          <a:p>
            <a:pPr>
              <a:lnSpc>
                <a:spcPct val="170000"/>
              </a:lnSpc>
            </a:pPr>
            <a:r>
              <a:rPr lang="en-US" dirty="0"/>
              <a:t>⏱️ </a:t>
            </a:r>
            <a:r>
              <a:rPr lang="en-US" b="1" dirty="0"/>
              <a:t>Time Waste</a:t>
            </a:r>
            <a:r>
              <a:rPr lang="en-US" dirty="0"/>
              <a:t>: 30+ min/day switching between apps</a:t>
            </a:r>
          </a:p>
          <a:p>
            <a:pPr>
              <a:lnSpc>
                <a:spcPct val="170000"/>
              </a:lnSpc>
            </a:pPr>
            <a:r>
              <a:rPr lang="en-US" dirty="0"/>
              <a:t>🔄 </a:t>
            </a:r>
            <a:r>
              <a:rPr lang="en-US" b="1" dirty="0"/>
              <a:t>Manual Work</a:t>
            </a:r>
            <a:r>
              <a:rPr lang="en-US" dirty="0"/>
              <a:t>: Transcribing and organizing takes 5-10 min per note</a:t>
            </a:r>
          </a:p>
          <a:p>
            <a:pPr>
              <a:lnSpc>
                <a:spcPct val="170000"/>
              </a:lnSpc>
            </a:pPr>
            <a:r>
              <a:rPr lang="en-US" dirty="0"/>
              <a:t>💤 </a:t>
            </a:r>
            <a:r>
              <a:rPr lang="en-US" b="1" dirty="0"/>
              <a:t>Delayed Action</a:t>
            </a:r>
            <a:r>
              <a:rPr lang="en-US" dirty="0"/>
              <a:t>: Gap between capture and execution kills momentum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sldNum" idx="24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D964BAF-EEC6-43CF-88E3-5ED2D6BB21C2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41BF3131-26A4-AA93-6269-72C03804DF68}"/>
              </a:ext>
            </a:extLst>
          </p:cNvPr>
          <p:cNvSpPr txBox="1">
            <a:spLocks/>
          </p:cNvSpPr>
          <p:nvPr/>
        </p:nvSpPr>
        <p:spPr>
          <a:xfrm>
            <a:off x="5052782" y="1653140"/>
            <a:ext cx="4247635" cy="234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/>
              <a:t>Real Scenarios: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/>
              <a:t>Blogger records ideas → never writes them</a:t>
            </a:r>
          </a:p>
          <a:p>
            <a:pPr>
              <a:lnSpc>
                <a:spcPct val="170000"/>
              </a:lnSpc>
            </a:pPr>
            <a:r>
              <a:rPr lang="en-US" dirty="0"/>
              <a:t>Manager captures meeting notes → forgets to create tasks</a:t>
            </a:r>
          </a:p>
          <a:p>
            <a:pPr>
              <a:lnSpc>
                <a:spcPct val="170000"/>
              </a:lnSpc>
            </a:pPr>
            <a:r>
              <a:rPr lang="en-US" dirty="0"/>
              <a:t>Entrepreneur drafts emails → sends days later</a:t>
            </a:r>
          </a:p>
          <a:p>
            <a:pPr>
              <a:lnSpc>
                <a:spcPct val="170000"/>
              </a:lnSpc>
            </a:pPr>
            <a:r>
              <a:rPr lang="en-US" b="1" dirty="0"/>
              <a:t>The Missing Link:</a:t>
            </a:r>
            <a:br>
              <a:rPr lang="en-US" dirty="0"/>
            </a:br>
            <a:r>
              <a:rPr lang="en-US" dirty="0"/>
              <a:t>No intelligent bridge between voice capture and automated execution. We need middleware that understands intent and triggers actions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278;p33"/>
          <p:cNvGrpSpPr/>
          <p:nvPr/>
        </p:nvGrpSpPr>
        <p:grpSpPr>
          <a:xfrm>
            <a:off x="180720" y="-694079"/>
            <a:ext cx="8687160" cy="5837579"/>
            <a:chOff x="228600" y="225000"/>
            <a:chExt cx="8687160" cy="5837579"/>
          </a:xfrm>
        </p:grpSpPr>
        <p:cxnSp>
          <p:nvCxnSpPr>
            <p:cNvPr id="87" name="Google Shape;279;p33"/>
            <p:cNvCxnSpPr>
              <a:cxnSpLocks/>
            </p:cNvCxnSpPr>
            <p:nvPr/>
          </p:nvCxnSpPr>
          <p:spPr>
            <a:xfrm>
              <a:off x="4024080" y="1901880"/>
              <a:ext cx="11160" cy="4160699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88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89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90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1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2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Introduction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336920" y="754650"/>
            <a:ext cx="4295520" cy="402106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IN" sz="1000" b="1" dirty="0"/>
              <a:t>How It Works:</a:t>
            </a:r>
            <a:endParaRPr lang="en-IN" sz="1000" dirty="0"/>
          </a:p>
          <a:p>
            <a:pPr>
              <a:lnSpc>
                <a:spcPct val="120000"/>
              </a:lnSpc>
            </a:pPr>
            <a:r>
              <a:rPr lang="en-IN" sz="1000" dirty="0"/>
              <a:t>🎤 </a:t>
            </a:r>
            <a:r>
              <a:rPr lang="en-IN" sz="1000" b="1" dirty="0"/>
              <a:t>Speak</a:t>
            </a:r>
            <a:r>
              <a:rPr lang="en-IN" sz="1000" dirty="0"/>
              <a:t>: Record your idea in </a:t>
            </a:r>
            <a:r>
              <a:rPr lang="en-IN" sz="1000" dirty="0" err="1"/>
              <a:t>SpeakOps</a:t>
            </a:r>
            <a:endParaRPr lang="en-IN" sz="1000" dirty="0"/>
          </a:p>
          <a:p>
            <a:pPr>
              <a:lnSpc>
                <a:spcPct val="120000"/>
              </a:lnSpc>
            </a:pPr>
            <a:r>
              <a:rPr lang="en-IN" sz="1000" dirty="0"/>
              <a:t>🤖 </a:t>
            </a:r>
            <a:r>
              <a:rPr lang="en-IN" sz="1000" b="1" dirty="0"/>
              <a:t>Process</a:t>
            </a:r>
            <a:r>
              <a:rPr lang="en-IN" sz="1000" dirty="0"/>
              <a:t>: GPT-4 </a:t>
            </a:r>
            <a:r>
              <a:rPr lang="en-IN" sz="1000" dirty="0" err="1"/>
              <a:t>analyzes</a:t>
            </a:r>
            <a:r>
              <a:rPr lang="en-IN" sz="1000" dirty="0"/>
              <a:t> and structures content</a:t>
            </a:r>
          </a:p>
          <a:p>
            <a:pPr>
              <a:lnSpc>
                <a:spcPct val="120000"/>
              </a:lnSpc>
            </a:pPr>
            <a:r>
              <a:rPr lang="en-IN" sz="1000" dirty="0"/>
              <a:t>⚡ </a:t>
            </a:r>
            <a:r>
              <a:rPr lang="en-IN" sz="1000" b="1" dirty="0"/>
              <a:t>Execute</a:t>
            </a:r>
            <a:r>
              <a:rPr lang="en-IN" sz="1000" dirty="0"/>
              <a:t>: Automatically triggers workflows</a:t>
            </a:r>
          </a:p>
          <a:p>
            <a:pPr>
              <a:lnSpc>
                <a:spcPct val="120000"/>
              </a:lnSpc>
            </a:pPr>
            <a:r>
              <a:rPr lang="en-IN" sz="1000" dirty="0"/>
              <a:t>✅ </a:t>
            </a:r>
            <a:r>
              <a:rPr lang="en-IN" sz="1000" b="1" dirty="0"/>
              <a:t>Done</a:t>
            </a:r>
            <a:r>
              <a:rPr lang="en-IN" sz="1000" dirty="0"/>
              <a:t>: Blog posted, tasks created, emails drafted</a:t>
            </a:r>
          </a:p>
          <a:p>
            <a:pPr>
              <a:lnSpc>
                <a:spcPct val="120000"/>
              </a:lnSpc>
            </a:pPr>
            <a:endParaRPr lang="en-IN" sz="1000" dirty="0"/>
          </a:p>
          <a:p>
            <a:pPr>
              <a:lnSpc>
                <a:spcPct val="120000"/>
              </a:lnSpc>
            </a:pPr>
            <a:r>
              <a:rPr lang="en-IN" sz="1000" b="1" dirty="0"/>
              <a:t>Core Features:</a:t>
            </a:r>
            <a:endParaRPr lang="en-IN" sz="1000" dirty="0"/>
          </a:p>
          <a:p>
            <a:pPr>
              <a:lnSpc>
                <a:spcPct val="120000"/>
              </a:lnSpc>
            </a:pPr>
            <a:r>
              <a:rPr lang="en-IN" sz="1000" b="1" dirty="0"/>
              <a:t>4 Pre-built Workflows</a:t>
            </a:r>
            <a:r>
              <a:rPr lang="en-IN" sz="1000" dirty="0"/>
              <a:t>: Blog posts, task extraction, meeting notes, email drafts.</a:t>
            </a:r>
          </a:p>
          <a:p>
            <a:pPr>
              <a:lnSpc>
                <a:spcPct val="120000"/>
              </a:lnSpc>
            </a:pPr>
            <a:r>
              <a:rPr lang="en-IN" sz="1000" b="1" dirty="0"/>
              <a:t>GPT-4 Powered</a:t>
            </a:r>
            <a:r>
              <a:rPr lang="en-IN" sz="1000" dirty="0"/>
              <a:t>: Intelligent content generation (2-5 sec response)</a:t>
            </a:r>
          </a:p>
          <a:p>
            <a:pPr>
              <a:lnSpc>
                <a:spcPct val="120000"/>
              </a:lnSpc>
            </a:pPr>
            <a:r>
              <a:rPr lang="en-IN" sz="1000" b="1" dirty="0"/>
              <a:t>Zero Manual Work</a:t>
            </a:r>
            <a:r>
              <a:rPr lang="en-IN" sz="1000" dirty="0"/>
              <a:t>: Voice → Action, no typing needed</a:t>
            </a:r>
          </a:p>
          <a:p>
            <a:pPr>
              <a:lnSpc>
                <a:spcPct val="120000"/>
              </a:lnSpc>
            </a:pPr>
            <a:r>
              <a:rPr lang="en-IN" sz="1000" b="1" dirty="0"/>
              <a:t>Multi-Platform</a:t>
            </a:r>
            <a:r>
              <a:rPr lang="en-IN" sz="1000" dirty="0"/>
              <a:t>: Integrates with WordPress, Notion, Asana</a:t>
            </a:r>
          </a:p>
          <a:p>
            <a:pPr>
              <a:lnSpc>
                <a:spcPct val="120000"/>
              </a:lnSpc>
            </a:pPr>
            <a:endParaRPr lang="en-IN" sz="1000" dirty="0"/>
          </a:p>
          <a:p>
            <a:pPr>
              <a:lnSpc>
                <a:spcPct val="120000"/>
              </a:lnSpc>
            </a:pPr>
            <a:r>
              <a:rPr lang="en-IN" sz="1000" b="1" dirty="0"/>
              <a:t>Architecture:</a:t>
            </a:r>
          </a:p>
          <a:p>
            <a:pPr>
              <a:lnSpc>
                <a:spcPct val="120000"/>
              </a:lnSpc>
            </a:pPr>
            <a:r>
              <a:rPr lang="en-IN" sz="1000" dirty="0"/>
              <a:t>Voice Note → </a:t>
            </a:r>
            <a:r>
              <a:rPr lang="en-IN" sz="1000" dirty="0" err="1"/>
              <a:t>SpeakSpace</a:t>
            </a:r>
            <a:r>
              <a:rPr lang="en-IN" sz="1000" dirty="0"/>
              <a:t> → Custom Action → Express API → GPT-4 Processing → External Services → Automated Output</a:t>
            </a:r>
          </a:p>
          <a:p>
            <a:pPr>
              <a:lnSpc>
                <a:spcPct val="120000"/>
              </a:lnSpc>
            </a:pPr>
            <a:endParaRPr lang="en-IN" sz="1000" dirty="0"/>
          </a:p>
          <a:p>
            <a:pPr>
              <a:lnSpc>
                <a:spcPct val="120000"/>
              </a:lnSpc>
            </a:pPr>
            <a:r>
              <a:rPr lang="en-IN" sz="1000" b="1" dirty="0"/>
              <a:t>Key </a:t>
            </a:r>
            <a:r>
              <a:rPr lang="en-IN" sz="1000" b="1" dirty="0" err="1"/>
              <a:t>Advantage:</a:t>
            </a:r>
            <a:r>
              <a:rPr lang="en-IN" sz="1000" dirty="0" err="1"/>
              <a:t>One</a:t>
            </a:r>
            <a:r>
              <a:rPr lang="en-IN" sz="1000" dirty="0"/>
              <a:t> voice note = Multiple automated outcomes. Speak once, automate everything.</a:t>
            </a:r>
          </a:p>
          <a:p>
            <a:pPr>
              <a:lnSpc>
                <a:spcPct val="120000"/>
              </a:lnSpc>
            </a:pPr>
            <a:r>
              <a:rPr lang="en-IN" sz="1000" b="1" dirty="0"/>
              <a:t>Live Demo:</a:t>
            </a:r>
            <a:r>
              <a:rPr lang="en-IN" sz="1000" dirty="0"/>
              <a:t> speakops-action-automation-from-spoken.onrender.com</a:t>
            </a:r>
          </a:p>
        </p:txBody>
      </p:sp>
      <p:pic>
        <p:nvPicPr>
          <p:cNvPr id="95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413032" y="989190"/>
            <a:ext cx="314208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3"/>
          <p:cNvSpPr>
            <a:spLocks noGrp="1"/>
          </p:cNvSpPr>
          <p:nvPr>
            <p:ph type="sldNum" idx="22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A7A82F0-1ADC-4BE2-84B5-5E0F95C6C2F0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3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0451099C-E500-3790-2F7C-0B99FADEA7E4}"/>
              </a:ext>
            </a:extLst>
          </p:cNvPr>
          <p:cNvSpPr txBox="1">
            <a:spLocks/>
          </p:cNvSpPr>
          <p:nvPr/>
        </p:nvSpPr>
        <p:spPr>
          <a:xfrm>
            <a:off x="310995" y="3392502"/>
            <a:ext cx="3142080" cy="8927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sz="1100" b="1"/>
              <a:t>What We Built:</a:t>
            </a:r>
            <a:br>
              <a:rPr lang="en-IN" sz="1100"/>
            </a:br>
            <a:r>
              <a:rPr lang="en-IN" sz="1100"/>
              <a:t>Intelligent middleware that transforms voice notes into automated actions using GPT-4</a:t>
            </a:r>
            <a:endParaRPr lang="en-I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202;p29"/>
          <p:cNvGrpSpPr/>
          <p:nvPr/>
        </p:nvGrpSpPr>
        <p:grpSpPr>
          <a:xfrm>
            <a:off x="170091" y="63762"/>
            <a:ext cx="2879206" cy="4976589"/>
            <a:chOff x="228240" y="3048706"/>
            <a:chExt cx="2879206" cy="4976589"/>
          </a:xfrm>
        </p:grpSpPr>
        <p:cxnSp>
          <p:nvCxnSpPr>
            <p:cNvPr id="98" name="Google Shape;203;p29"/>
            <p:cNvCxnSpPr>
              <a:cxnSpLocks/>
            </p:cNvCxnSpPr>
            <p:nvPr/>
          </p:nvCxnSpPr>
          <p:spPr>
            <a:xfrm>
              <a:off x="2953697" y="4160723"/>
              <a:ext cx="0" cy="3864572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99" name="Google Shape;204;p29"/>
            <p:cNvCxnSpPr/>
            <p:nvPr/>
          </p:nvCxnSpPr>
          <p:spPr>
            <a:xfrm>
              <a:off x="2953337" y="3963418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00" name="Google Shape;205;p29"/>
            <p:cNvCxnSpPr/>
            <p:nvPr/>
          </p:nvCxnSpPr>
          <p:spPr>
            <a:xfrm>
              <a:off x="2878486" y="4049383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01" name="Google Shape;206;p29"/>
            <p:cNvCxnSpPr>
              <a:cxnSpLocks/>
            </p:cNvCxnSpPr>
            <p:nvPr/>
          </p:nvCxnSpPr>
          <p:spPr>
            <a:xfrm>
              <a:off x="2953697" y="3048706"/>
              <a:ext cx="0" cy="883057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02" name="Google Shape;207;p29"/>
            <p:cNvCxnSpPr>
              <a:cxnSpLocks/>
            </p:cNvCxnSpPr>
            <p:nvPr/>
          </p:nvCxnSpPr>
          <p:spPr>
            <a:xfrm>
              <a:off x="228240" y="4037100"/>
              <a:ext cx="2650246" cy="8963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-579863" y="82494"/>
            <a:ext cx="3400200" cy="8959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  <a:ea typeface="Spline Sans"/>
              </a:rPr>
              <a:t>System Architecture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23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3D8BDEE1-E47A-4799-A8F0-70DC3DF7ADB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4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F6960E-5CB6-9FC4-88D6-1A1F0652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495" y="187790"/>
            <a:ext cx="3451694" cy="48525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51671D-3E99-F246-54C8-89C68507E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7" y="1239088"/>
            <a:ext cx="2674504" cy="17018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6A0635-A19B-0BAB-7E15-718E450162A1}"/>
              </a:ext>
            </a:extLst>
          </p:cNvPr>
          <p:cNvSpPr txBox="1"/>
          <p:nvPr/>
        </p:nvSpPr>
        <p:spPr>
          <a:xfrm>
            <a:off x="1497022" y="3016855"/>
            <a:ext cx="1398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Spline Sans"/>
                <a:ea typeface="Spline Sans"/>
              </a:rPr>
              <a:t>SpeakOps</a:t>
            </a:r>
            <a:endParaRPr lang="en-IN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78;p33"/>
          <p:cNvGrpSpPr/>
          <p:nvPr/>
        </p:nvGrpSpPr>
        <p:grpSpPr>
          <a:xfrm>
            <a:off x="228240" y="-607247"/>
            <a:ext cx="8687160" cy="5610427"/>
            <a:chOff x="228600" y="225000"/>
            <a:chExt cx="8687160" cy="5610427"/>
          </a:xfrm>
        </p:grpSpPr>
        <p:cxnSp>
          <p:nvCxnSpPr>
            <p:cNvPr id="118" name="Google Shape;279;p33"/>
            <p:cNvCxnSpPr>
              <a:cxnSpLocks/>
            </p:cNvCxnSpPr>
            <p:nvPr/>
          </p:nvCxnSpPr>
          <p:spPr>
            <a:xfrm>
              <a:off x="4024080" y="1901880"/>
              <a:ext cx="11160" cy="3933547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9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0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1" name="Google Shape;282;p33"/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2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3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85281" y="381600"/>
            <a:ext cx="3721878" cy="631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</a:rPr>
              <a:t>Workflow 1- Blog Post Generator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4572000" y="1069633"/>
            <a:ext cx="4295520" cy="38450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Example: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Voice Input</a:t>
            </a:r>
            <a:r>
              <a:rPr lang="en-US" dirty="0"/>
              <a:t>: "I want to write about the benefits of automation in content creation, focusing on time savings and consistency“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Generated</a:t>
            </a:r>
            <a:r>
              <a:rPr lang="en-US" dirty="0"/>
              <a:t>: Full article with title, introduction, 3-4 main sections, conclusion, SEO keywords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Key Features: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SEO-optimized titles and content</a:t>
            </a:r>
          </a:p>
          <a:p>
            <a:pPr>
              <a:lnSpc>
                <a:spcPct val="120000"/>
              </a:lnSpc>
            </a:pPr>
            <a:r>
              <a:rPr lang="en-US" dirty="0"/>
              <a:t>Proper formatting and structure</a:t>
            </a:r>
          </a:p>
          <a:p>
            <a:pPr>
              <a:lnSpc>
                <a:spcPct val="120000"/>
              </a:lnSpc>
            </a:pPr>
            <a:r>
              <a:rPr lang="en-US" dirty="0"/>
              <a:t>HTML-ready output</a:t>
            </a:r>
          </a:p>
          <a:p>
            <a:pPr>
              <a:lnSpc>
                <a:spcPct val="120000"/>
              </a:lnSpc>
            </a:pPr>
            <a:r>
              <a:rPr lang="en-US" dirty="0"/>
              <a:t>WordPress integration (auto-draft creation)</a:t>
            </a:r>
          </a:p>
          <a:p>
            <a:pPr>
              <a:lnSpc>
                <a:spcPct val="120000"/>
              </a:lnSpc>
            </a:pPr>
            <a:r>
              <a:rPr lang="en-US" dirty="0"/>
              <a:t>2-5 second generation time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Use Cases: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Content creators generating weekly posts</a:t>
            </a:r>
          </a:p>
          <a:p>
            <a:pPr>
              <a:lnSpc>
                <a:spcPct val="120000"/>
              </a:lnSpc>
            </a:pPr>
            <a:r>
              <a:rPr lang="en-US" dirty="0"/>
              <a:t>Marketing teams drafting campaign content</a:t>
            </a:r>
          </a:p>
          <a:p>
            <a:pPr>
              <a:lnSpc>
                <a:spcPct val="120000"/>
              </a:lnSpc>
            </a:pPr>
            <a:r>
              <a:rPr lang="en-US" dirty="0"/>
              <a:t>Bloggers capturing inspiration on-the-go</a:t>
            </a:r>
          </a:p>
          <a:p>
            <a:pPr>
              <a:lnSpc>
                <a:spcPct val="120000"/>
              </a:lnSpc>
            </a:pPr>
            <a:r>
              <a:rPr lang="en-US" dirty="0"/>
              <a:t>Technical writers outlining documentation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Result</a:t>
            </a:r>
            <a:r>
              <a:rPr lang="en-US" dirty="0"/>
              <a:t>: 5-minute voice note → 800-word professional blog post</a:t>
            </a:r>
          </a:p>
          <a:p>
            <a:pPr>
              <a:lnSpc>
                <a:spcPct val="120000"/>
              </a:lnSpc>
            </a:pPr>
            <a:r>
              <a:rPr lang="en-US" dirty="0"/>
              <a:t>Claude Sonnet 4.5 • 1x</a:t>
            </a:r>
          </a:p>
        </p:txBody>
      </p:sp>
      <p:sp>
        <p:nvSpPr>
          <p:cNvPr id="127" name="PlaceHolder 3"/>
          <p:cNvSpPr>
            <a:spLocks noGrp="1"/>
          </p:cNvSpPr>
          <p:nvPr>
            <p:ph type="sldNum" idx="2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D4E51A7-D86E-4AB5-9AD0-E1E95C83046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5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D99BB1DF-DD37-5769-2DE1-3EEFCDE4D78A}"/>
              </a:ext>
            </a:extLst>
          </p:cNvPr>
          <p:cNvSpPr txBox="1">
            <a:spLocks/>
          </p:cNvSpPr>
          <p:nvPr/>
        </p:nvSpPr>
        <p:spPr>
          <a:xfrm>
            <a:off x="228240" y="3403925"/>
            <a:ext cx="3832722" cy="20293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100" b="1" dirty="0"/>
              <a:t>Purpose:</a:t>
            </a:r>
            <a:br>
              <a:rPr lang="en-US" sz="1100" dirty="0"/>
            </a:br>
            <a:r>
              <a:rPr lang="en-US" sz="1100" dirty="0"/>
              <a:t>Transform voice ideas into SEO-optimized, publish-ready blog posts</a:t>
            </a:r>
          </a:p>
          <a:p>
            <a:pPr>
              <a:lnSpc>
                <a:spcPct val="120000"/>
              </a:lnSpc>
            </a:pPr>
            <a:r>
              <a:rPr lang="en-US" sz="1100" b="1" dirty="0"/>
              <a:t>How It Works:</a:t>
            </a:r>
            <a:endParaRPr lang="en-US" sz="1100" dirty="0"/>
          </a:p>
          <a:p>
            <a:pPr>
              <a:lnSpc>
                <a:spcPct val="120000"/>
              </a:lnSpc>
            </a:pPr>
            <a:r>
              <a:rPr lang="en-US" sz="1100" b="1" dirty="0"/>
              <a:t>Input</a:t>
            </a:r>
            <a:r>
              <a:rPr lang="en-US" sz="1100" dirty="0"/>
              <a:t>: Voice note with blog topic or rough idea</a:t>
            </a:r>
          </a:p>
          <a:p>
            <a:pPr>
              <a:lnSpc>
                <a:spcPct val="120000"/>
              </a:lnSpc>
            </a:pPr>
            <a:r>
              <a:rPr lang="en-US" sz="1100" b="1" dirty="0"/>
              <a:t>GPT-4 Processing</a:t>
            </a:r>
            <a:r>
              <a:rPr lang="en-US" sz="1100" dirty="0"/>
              <a:t>: Generates 600-800 word article with structure</a:t>
            </a:r>
          </a:p>
          <a:p>
            <a:pPr>
              <a:lnSpc>
                <a:spcPct val="120000"/>
              </a:lnSpc>
            </a:pPr>
            <a:r>
              <a:rPr lang="en-US" sz="1100" b="1" dirty="0"/>
              <a:t>Output</a:t>
            </a:r>
            <a:r>
              <a:rPr lang="en-US" sz="1100" dirty="0"/>
              <a:t>: Formatted blog post → WordPress draft (optional)</a:t>
            </a:r>
          </a:p>
          <a:p>
            <a:pPr>
              <a:lnSpc>
                <a:spcPct val="120000"/>
              </a:lnSpc>
            </a:pPr>
            <a:endParaRPr lang="en-US" sz="1100" dirty="0"/>
          </a:p>
          <a:p>
            <a:pPr>
              <a:lnSpc>
                <a:spcPct val="120000"/>
              </a:lnSpc>
            </a:pPr>
            <a:endParaRPr lang="en-US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B2A10-124D-9570-D09D-4727F64E19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81" y="1393951"/>
            <a:ext cx="2800350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E8AB4-7B0C-6EAA-84A3-1172EAE9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78;p33">
            <a:extLst>
              <a:ext uri="{FF2B5EF4-FFF2-40B4-BE49-F238E27FC236}">
                <a16:creationId xmlns:a16="http://schemas.microsoft.com/office/drawing/2014/main" id="{5C322616-0A88-7BD2-9DDC-3BCA73831471}"/>
              </a:ext>
            </a:extLst>
          </p:cNvPr>
          <p:cNvGrpSpPr/>
          <p:nvPr/>
        </p:nvGrpSpPr>
        <p:grpSpPr>
          <a:xfrm>
            <a:off x="228420" y="-682478"/>
            <a:ext cx="8687160" cy="5610427"/>
            <a:chOff x="228600" y="225000"/>
            <a:chExt cx="8687160" cy="5610427"/>
          </a:xfrm>
        </p:grpSpPr>
        <p:cxnSp>
          <p:nvCxnSpPr>
            <p:cNvPr id="118" name="Google Shape;279;p33">
              <a:extLst>
                <a:ext uri="{FF2B5EF4-FFF2-40B4-BE49-F238E27FC236}">
                  <a16:creationId xmlns:a16="http://schemas.microsoft.com/office/drawing/2014/main" id="{88D2E072-AC7F-6D12-2CCF-EEDDE3BC4C51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11160" cy="3933547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9" name="Google Shape;280;p33">
              <a:extLst>
                <a:ext uri="{FF2B5EF4-FFF2-40B4-BE49-F238E27FC236}">
                  <a16:creationId xmlns:a16="http://schemas.microsoft.com/office/drawing/2014/main" id="{774ED466-6B87-23BC-BB00-C77205B4F98F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0" name="Google Shape;281;p33">
              <a:extLst>
                <a:ext uri="{FF2B5EF4-FFF2-40B4-BE49-F238E27FC236}">
                  <a16:creationId xmlns:a16="http://schemas.microsoft.com/office/drawing/2014/main" id="{8A9C41B7-32B5-F9DF-24A8-E096C7A08ACB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1" name="Google Shape;282;p33">
              <a:extLst>
                <a:ext uri="{FF2B5EF4-FFF2-40B4-BE49-F238E27FC236}">
                  <a16:creationId xmlns:a16="http://schemas.microsoft.com/office/drawing/2014/main" id="{64F36FE8-A374-0E1B-1EF3-0E4AE5D64E55}"/>
                </a:ext>
              </a:extLst>
            </p:cNvPr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2" name="Google Shape;283;p33">
              <a:extLst>
                <a:ext uri="{FF2B5EF4-FFF2-40B4-BE49-F238E27FC236}">
                  <a16:creationId xmlns:a16="http://schemas.microsoft.com/office/drawing/2014/main" id="{754BAD03-A314-1F2E-8975-A096B1EF9345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3" name="Google Shape;284;p33">
              <a:extLst>
                <a:ext uri="{FF2B5EF4-FFF2-40B4-BE49-F238E27FC236}">
                  <a16:creationId xmlns:a16="http://schemas.microsoft.com/office/drawing/2014/main" id="{C174B77C-3F50-801E-448D-9DCDEB9AFDF2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24" name="PlaceHolder 1">
            <a:extLst>
              <a:ext uri="{FF2B5EF4-FFF2-40B4-BE49-F238E27FC236}">
                <a16:creationId xmlns:a16="http://schemas.microsoft.com/office/drawing/2014/main" id="{31D02EAE-738D-DCF4-88ED-0180701A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381600"/>
            <a:ext cx="3510819" cy="631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</a:rPr>
              <a:t>Workflow 2- Task Extraction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>
            <a:extLst>
              <a:ext uri="{FF2B5EF4-FFF2-40B4-BE49-F238E27FC236}">
                <a16:creationId xmlns:a16="http://schemas.microsoft.com/office/drawing/2014/main" id="{7284E32D-9736-8D5C-F457-4B2D756B97C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15161" y="1062468"/>
            <a:ext cx="4380200" cy="39930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Voice Input</a:t>
            </a:r>
            <a:r>
              <a:rPr lang="en-US" dirty="0"/>
              <a:t>: "From today's standup: David needs to finish the API integration by Wednesday. I need to update the project tracker once he's done. Also, Samira asked for feedback on the new icons by end of day today.“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IN" b="1" dirty="0"/>
              <a:t>Extracted Tasks</a:t>
            </a:r>
            <a:r>
              <a:rPr lang="en-IN" dirty="0"/>
              <a:t>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IN" dirty="0"/>
              <a:t>Task: "Finish API integration" | Priority: High | Deadline: Wednesday</a:t>
            </a:r>
          </a:p>
          <a:p>
            <a:pPr>
              <a:lnSpc>
                <a:spcPct val="120000"/>
              </a:lnSpc>
            </a:pPr>
            <a:r>
              <a:rPr lang="en-IN" dirty="0"/>
              <a:t>Task: "Update project tracker" | Priority: Medium | Deadline: After API completion</a:t>
            </a:r>
          </a:p>
          <a:p>
            <a:pPr>
              <a:lnSpc>
                <a:spcPct val="120000"/>
              </a:lnSpc>
            </a:pPr>
            <a:r>
              <a:rPr lang="en-IN" dirty="0"/>
              <a:t>Task: "Provide icon feedback" | Priority: High | Deadline: Today EOD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Key Features: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Identifies task, priority, and deadline</a:t>
            </a:r>
          </a:p>
          <a:p>
            <a:pPr>
              <a:lnSpc>
                <a:spcPct val="120000"/>
              </a:lnSpc>
            </a:pPr>
            <a:r>
              <a:rPr lang="en-US" dirty="0"/>
              <a:t>Creates structured JSON output</a:t>
            </a:r>
          </a:p>
          <a:p>
            <a:pPr>
              <a:lnSpc>
                <a:spcPct val="120000"/>
              </a:lnSpc>
            </a:pPr>
            <a:r>
              <a:rPr lang="en-US" dirty="0"/>
              <a:t>Notion integration for automatic page creation</a:t>
            </a:r>
          </a:p>
          <a:p>
            <a:pPr>
              <a:lnSpc>
                <a:spcPct val="120000"/>
              </a:lnSpc>
            </a:pPr>
            <a:r>
              <a:rPr lang="en-US" dirty="0"/>
              <a:t>Handles multiple tasks per note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/>
              <a:t>Use Cases: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Project managers processing meeting notes</a:t>
            </a:r>
          </a:p>
          <a:p>
            <a:pPr>
              <a:lnSpc>
                <a:spcPct val="120000"/>
              </a:lnSpc>
            </a:pPr>
            <a:r>
              <a:rPr lang="en-US" dirty="0"/>
              <a:t>Team leads tracking action items</a:t>
            </a:r>
          </a:p>
          <a:p>
            <a:pPr>
              <a:lnSpc>
                <a:spcPct val="120000"/>
              </a:lnSpc>
            </a:pPr>
            <a:r>
              <a:rPr lang="en-US" dirty="0"/>
              <a:t>Solo entrepreneurs organizing daily tasks</a:t>
            </a:r>
          </a:p>
          <a:p>
            <a:pPr>
              <a:lnSpc>
                <a:spcPct val="120000"/>
              </a:lnSpc>
            </a:pPr>
            <a:r>
              <a:rPr lang="en-US" b="1" dirty="0"/>
              <a:t>Result</a:t>
            </a:r>
            <a:r>
              <a:rPr lang="en-US" dirty="0"/>
              <a:t>: Messy voice memo → Organized task list in seconds</a:t>
            </a:r>
          </a:p>
        </p:txBody>
      </p:sp>
      <p:sp>
        <p:nvSpPr>
          <p:cNvPr id="127" name="PlaceHolder 3">
            <a:extLst>
              <a:ext uri="{FF2B5EF4-FFF2-40B4-BE49-F238E27FC236}">
                <a16:creationId xmlns:a16="http://schemas.microsoft.com/office/drawing/2014/main" id="{C24840CC-C45B-C22A-9AEB-D2859A81EB0B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D4E51A7-D86E-4AB5-9AD0-E1E95C83046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6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89E90072-9B64-9D90-F72A-137B583CDB98}"/>
              </a:ext>
            </a:extLst>
          </p:cNvPr>
          <p:cNvSpPr txBox="1">
            <a:spLocks/>
          </p:cNvSpPr>
          <p:nvPr/>
        </p:nvSpPr>
        <p:spPr>
          <a:xfrm>
            <a:off x="196758" y="3058978"/>
            <a:ext cx="3832722" cy="17581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 b="1" dirty="0"/>
              <a:t>Purpose:</a:t>
            </a:r>
            <a:br>
              <a:rPr lang="en-US" sz="1100" dirty="0"/>
            </a:br>
            <a:r>
              <a:rPr lang="en-US" sz="1100" dirty="0"/>
              <a:t>Automatically extract actionable tasks from voice notes or meeting recordings</a:t>
            </a:r>
          </a:p>
          <a:p>
            <a:pPr>
              <a:lnSpc>
                <a:spcPct val="100000"/>
              </a:lnSpc>
            </a:pP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How It Works:</a:t>
            </a:r>
            <a:endParaRPr lang="en-US" sz="1100" dirty="0"/>
          </a:p>
          <a:p>
            <a:pPr>
              <a:lnSpc>
                <a:spcPct val="100000"/>
              </a:lnSpc>
            </a:pPr>
            <a:r>
              <a:rPr lang="en-US" sz="1100" b="1" dirty="0"/>
              <a:t>Input</a:t>
            </a:r>
            <a:r>
              <a:rPr lang="en-US" sz="1100" dirty="0"/>
              <a:t>: Voice memo with multiple action items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GPT-4 Processing</a:t>
            </a:r>
            <a:r>
              <a:rPr lang="en-US" sz="1100" dirty="0"/>
              <a:t>: Identifies tasks, priorities, and deadlines</a:t>
            </a:r>
          </a:p>
          <a:p>
            <a:pPr>
              <a:lnSpc>
                <a:spcPct val="100000"/>
              </a:lnSpc>
            </a:pPr>
            <a:r>
              <a:rPr lang="en-US" sz="1100" b="1" dirty="0"/>
              <a:t>Output</a:t>
            </a:r>
            <a:r>
              <a:rPr lang="en-US" sz="1100" dirty="0"/>
              <a:t>: Structured task list → Notion database (optional)</a:t>
            </a:r>
          </a:p>
        </p:txBody>
      </p:sp>
      <p:pic>
        <p:nvPicPr>
          <p:cNvPr id="5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503820" y="956209"/>
            <a:ext cx="3142080" cy="223488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97640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5BEF9-64EE-0A46-EC76-C9D11D2BD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78;p33">
            <a:extLst>
              <a:ext uri="{FF2B5EF4-FFF2-40B4-BE49-F238E27FC236}">
                <a16:creationId xmlns:a16="http://schemas.microsoft.com/office/drawing/2014/main" id="{F9029F90-E005-5793-8C0C-51A19F415D81}"/>
              </a:ext>
            </a:extLst>
          </p:cNvPr>
          <p:cNvGrpSpPr/>
          <p:nvPr/>
        </p:nvGrpSpPr>
        <p:grpSpPr>
          <a:xfrm>
            <a:off x="228420" y="-682478"/>
            <a:ext cx="8687160" cy="5610427"/>
            <a:chOff x="228600" y="225000"/>
            <a:chExt cx="8687160" cy="5610427"/>
          </a:xfrm>
        </p:grpSpPr>
        <p:cxnSp>
          <p:nvCxnSpPr>
            <p:cNvPr id="118" name="Google Shape;279;p33">
              <a:extLst>
                <a:ext uri="{FF2B5EF4-FFF2-40B4-BE49-F238E27FC236}">
                  <a16:creationId xmlns:a16="http://schemas.microsoft.com/office/drawing/2014/main" id="{3D50E496-B255-AB35-4A7C-FC26212781F7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11160" cy="3933547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9" name="Google Shape;280;p33">
              <a:extLst>
                <a:ext uri="{FF2B5EF4-FFF2-40B4-BE49-F238E27FC236}">
                  <a16:creationId xmlns:a16="http://schemas.microsoft.com/office/drawing/2014/main" id="{0FC03B54-0475-A46F-5640-878C33C106C7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0" name="Google Shape;281;p33">
              <a:extLst>
                <a:ext uri="{FF2B5EF4-FFF2-40B4-BE49-F238E27FC236}">
                  <a16:creationId xmlns:a16="http://schemas.microsoft.com/office/drawing/2014/main" id="{1B532554-0ADA-F6A5-9EA5-2F729C92D006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1" name="Google Shape;282;p33">
              <a:extLst>
                <a:ext uri="{FF2B5EF4-FFF2-40B4-BE49-F238E27FC236}">
                  <a16:creationId xmlns:a16="http://schemas.microsoft.com/office/drawing/2014/main" id="{501CF2DE-C908-CB87-CF7E-DE2F348DC912}"/>
                </a:ext>
              </a:extLst>
            </p:cNvPr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2" name="Google Shape;283;p33">
              <a:extLst>
                <a:ext uri="{FF2B5EF4-FFF2-40B4-BE49-F238E27FC236}">
                  <a16:creationId xmlns:a16="http://schemas.microsoft.com/office/drawing/2014/main" id="{87E6CB0D-3F08-CDA8-F5CC-40D1FA168358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3" name="Google Shape;284;p33">
              <a:extLst>
                <a:ext uri="{FF2B5EF4-FFF2-40B4-BE49-F238E27FC236}">
                  <a16:creationId xmlns:a16="http://schemas.microsoft.com/office/drawing/2014/main" id="{47CA6495-7092-162E-3A1C-88DFEF6EBA3F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24" name="PlaceHolder 1">
            <a:extLst>
              <a:ext uri="{FF2B5EF4-FFF2-40B4-BE49-F238E27FC236}">
                <a16:creationId xmlns:a16="http://schemas.microsoft.com/office/drawing/2014/main" id="{1D05687F-CC37-8AA8-2051-362614D2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381600"/>
            <a:ext cx="3510819" cy="631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</a:rPr>
              <a:t>Workflow 3- Meeting Notes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>
            <a:extLst>
              <a:ext uri="{FF2B5EF4-FFF2-40B4-BE49-F238E27FC236}">
                <a16:creationId xmlns:a16="http://schemas.microsoft.com/office/drawing/2014/main" id="{653E094C-C6AD-7612-BA08-986563AC2B7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4100" y="994402"/>
            <a:ext cx="4273920" cy="37811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000" b="1" dirty="0"/>
              <a:t>Example:</a:t>
            </a:r>
            <a:endParaRPr lang="en-US" sz="1000" dirty="0"/>
          </a:p>
          <a:p>
            <a:pPr>
              <a:lnSpc>
                <a:spcPct val="120000"/>
              </a:lnSpc>
            </a:pPr>
            <a:r>
              <a:rPr lang="en-US" sz="1000" b="1" dirty="0"/>
              <a:t>Voice Input</a:t>
            </a:r>
            <a:r>
              <a:rPr lang="en-US" sz="1000" dirty="0"/>
              <a:t>: "Jordan proposed we finalize mockups, no delays from data team. Samira provides next check-in Monday 9 AM for pre-testing sync. Alex Chen great work, meeting adjourned 10:40 AM."</a:t>
            </a:r>
          </a:p>
          <a:p>
            <a:pPr>
              <a:lnSpc>
                <a:spcPct val="120000"/>
              </a:lnSpc>
            </a:pPr>
            <a:r>
              <a:rPr lang="en-US" sz="1000" b="1" dirty="0"/>
              <a:t>Generated Summary</a:t>
            </a:r>
            <a:r>
              <a:rPr lang="en-US" sz="1000" dirty="0"/>
              <a:t>: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Key Decisions</a:t>
            </a:r>
            <a:r>
              <a:rPr lang="en-US" sz="1000" dirty="0"/>
              <a:t>: Finalize mockups, proceed without delays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Action Items</a:t>
            </a:r>
            <a:r>
              <a:rPr lang="en-US" sz="1000" dirty="0"/>
              <a:t>:</a:t>
            </a:r>
          </a:p>
          <a:p>
            <a:pPr lvl="2">
              <a:lnSpc>
                <a:spcPct val="120000"/>
              </a:lnSpc>
            </a:pPr>
            <a:r>
              <a:rPr lang="en-US" sz="1000" dirty="0"/>
              <a:t>Samira: Schedule Monday 9 AM sync</a:t>
            </a:r>
          </a:p>
          <a:p>
            <a:pPr lvl="2">
              <a:lnSpc>
                <a:spcPct val="120000"/>
              </a:lnSpc>
            </a:pPr>
            <a:r>
              <a:rPr lang="en-US" sz="1000" dirty="0"/>
              <a:t>Team: Complete pre-testing prep</a:t>
            </a:r>
          </a:p>
          <a:p>
            <a:pPr lvl="1">
              <a:lnSpc>
                <a:spcPct val="120000"/>
              </a:lnSpc>
            </a:pPr>
            <a:r>
              <a:rPr lang="en-US" sz="1000" b="1" dirty="0"/>
              <a:t>Next Steps</a:t>
            </a:r>
            <a:r>
              <a:rPr lang="en-US" sz="1000" dirty="0"/>
              <a:t>: Follow-up meeting Monday</a:t>
            </a:r>
          </a:p>
          <a:p>
            <a:pPr>
              <a:lnSpc>
                <a:spcPct val="120000"/>
              </a:lnSpc>
            </a:pPr>
            <a:r>
              <a:rPr lang="en-US" sz="1000" b="1" dirty="0"/>
              <a:t>Key Features:</a:t>
            </a:r>
            <a:endParaRPr lang="en-US" sz="1000" dirty="0"/>
          </a:p>
          <a:p>
            <a:pPr>
              <a:lnSpc>
                <a:spcPct val="120000"/>
              </a:lnSpc>
            </a:pPr>
            <a:r>
              <a:rPr lang="en-US" sz="1000" dirty="0"/>
              <a:t>Identifies participants, decisions, and action items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Extracts deadlines and owners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Creates structured, readable format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Asana integration for task assignment</a:t>
            </a:r>
          </a:p>
          <a:p>
            <a:pPr>
              <a:lnSpc>
                <a:spcPct val="120000"/>
              </a:lnSpc>
            </a:pPr>
            <a:r>
              <a:rPr lang="en-US" sz="1000" b="1" dirty="0"/>
              <a:t>Use Cases:</a:t>
            </a:r>
            <a:endParaRPr lang="en-US" sz="1000" dirty="0"/>
          </a:p>
          <a:p>
            <a:pPr>
              <a:lnSpc>
                <a:spcPct val="120000"/>
              </a:lnSpc>
            </a:pPr>
            <a:r>
              <a:rPr lang="en-US" sz="1000" dirty="0"/>
              <a:t>Remote teams documenting Zoom/Teams calls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Executives reviewing board meetings</a:t>
            </a:r>
          </a:p>
          <a:p>
            <a:pPr>
              <a:lnSpc>
                <a:spcPct val="120000"/>
              </a:lnSpc>
            </a:pPr>
            <a:r>
              <a:rPr lang="en-US" sz="1000" dirty="0"/>
              <a:t>Sales teams tracking client conversations</a:t>
            </a:r>
          </a:p>
          <a:p>
            <a:pPr>
              <a:lnSpc>
                <a:spcPct val="120000"/>
              </a:lnSpc>
            </a:pPr>
            <a:r>
              <a:rPr lang="en-US" sz="1000" b="1" dirty="0"/>
              <a:t>Result</a:t>
            </a:r>
            <a:r>
              <a:rPr lang="en-US" sz="1000" dirty="0"/>
              <a:t>: 30-min meeting transcript → 2-minute organized summary</a:t>
            </a:r>
          </a:p>
        </p:txBody>
      </p:sp>
      <p:sp>
        <p:nvSpPr>
          <p:cNvPr id="127" name="PlaceHolder 3">
            <a:extLst>
              <a:ext uri="{FF2B5EF4-FFF2-40B4-BE49-F238E27FC236}">
                <a16:creationId xmlns:a16="http://schemas.microsoft.com/office/drawing/2014/main" id="{F172896C-B931-2427-1FE6-E13A5F0879CC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D4E51A7-D86E-4AB5-9AD0-E1E95C83046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7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FFC2045F-A887-3055-9A86-D54E3F966CA0}"/>
              </a:ext>
            </a:extLst>
          </p:cNvPr>
          <p:cNvSpPr txBox="1">
            <a:spLocks/>
          </p:cNvSpPr>
          <p:nvPr/>
        </p:nvSpPr>
        <p:spPr>
          <a:xfrm>
            <a:off x="196758" y="3058978"/>
            <a:ext cx="3832722" cy="175810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100" b="1" dirty="0"/>
              <a:t>Purpose:</a:t>
            </a:r>
            <a:br>
              <a:rPr lang="en-US" sz="1100" dirty="0"/>
            </a:br>
            <a:r>
              <a:rPr lang="en-US" sz="1100" dirty="0"/>
              <a:t>Transform messy meeting transcripts into organized summaries with action items</a:t>
            </a:r>
          </a:p>
          <a:p>
            <a:pPr>
              <a:lnSpc>
                <a:spcPct val="120000"/>
              </a:lnSpc>
            </a:pPr>
            <a:r>
              <a:rPr lang="en-US" sz="1100" b="1" dirty="0"/>
              <a:t>How It Works:</a:t>
            </a:r>
            <a:endParaRPr lang="en-US" sz="1100" dirty="0"/>
          </a:p>
          <a:p>
            <a:pPr>
              <a:lnSpc>
                <a:spcPct val="120000"/>
              </a:lnSpc>
            </a:pPr>
            <a:r>
              <a:rPr lang="en-US" sz="1100" b="1" dirty="0"/>
              <a:t>Input</a:t>
            </a:r>
            <a:r>
              <a:rPr lang="en-US" sz="1100" dirty="0"/>
              <a:t>: Raw meeting transcript or voice recording</a:t>
            </a:r>
          </a:p>
          <a:p>
            <a:pPr>
              <a:lnSpc>
                <a:spcPct val="120000"/>
              </a:lnSpc>
            </a:pPr>
            <a:r>
              <a:rPr lang="en-US" sz="1100" b="1" dirty="0"/>
              <a:t>GPT-4 Processing</a:t>
            </a:r>
            <a:r>
              <a:rPr lang="en-US" sz="1100" dirty="0"/>
              <a:t>: Summarizes key points, extracts action items with owners</a:t>
            </a:r>
          </a:p>
          <a:p>
            <a:pPr>
              <a:lnSpc>
                <a:spcPct val="120000"/>
              </a:lnSpc>
            </a:pPr>
            <a:r>
              <a:rPr lang="en-US" sz="1100" b="1" dirty="0"/>
              <a:t>Output</a:t>
            </a:r>
            <a:r>
              <a:rPr lang="en-US" sz="1100" dirty="0"/>
              <a:t>: Clean summary + action items → Asana tasks (optional)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42DBBE-454A-5794-FFC1-B8CDE8CB4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7" y="1030978"/>
            <a:ext cx="2772506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0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F181-AEDB-78E0-54E1-FC489D1AA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278;p33">
            <a:extLst>
              <a:ext uri="{FF2B5EF4-FFF2-40B4-BE49-F238E27FC236}">
                <a16:creationId xmlns:a16="http://schemas.microsoft.com/office/drawing/2014/main" id="{A3EA6E96-2980-4B71-5C0C-F0F35546BDE0}"/>
              </a:ext>
            </a:extLst>
          </p:cNvPr>
          <p:cNvGrpSpPr/>
          <p:nvPr/>
        </p:nvGrpSpPr>
        <p:grpSpPr>
          <a:xfrm>
            <a:off x="228420" y="-682478"/>
            <a:ext cx="8687160" cy="5610427"/>
            <a:chOff x="228600" y="225000"/>
            <a:chExt cx="8687160" cy="5610427"/>
          </a:xfrm>
        </p:grpSpPr>
        <p:cxnSp>
          <p:nvCxnSpPr>
            <p:cNvPr id="118" name="Google Shape;279;p33">
              <a:extLst>
                <a:ext uri="{FF2B5EF4-FFF2-40B4-BE49-F238E27FC236}">
                  <a16:creationId xmlns:a16="http://schemas.microsoft.com/office/drawing/2014/main" id="{B70CE669-D39C-978A-09C7-7675C94CB0C2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11160" cy="3933547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19" name="Google Shape;280;p33">
              <a:extLst>
                <a:ext uri="{FF2B5EF4-FFF2-40B4-BE49-F238E27FC236}">
                  <a16:creationId xmlns:a16="http://schemas.microsoft.com/office/drawing/2014/main" id="{0B999C23-57FA-5E2B-2CA6-3A46FD13C598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0" name="Google Shape;281;p33">
              <a:extLst>
                <a:ext uri="{FF2B5EF4-FFF2-40B4-BE49-F238E27FC236}">
                  <a16:creationId xmlns:a16="http://schemas.microsoft.com/office/drawing/2014/main" id="{E6BA5FE5-2F80-DCDC-9478-DA385EACFC96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21" name="Google Shape;282;p33">
              <a:extLst>
                <a:ext uri="{FF2B5EF4-FFF2-40B4-BE49-F238E27FC236}">
                  <a16:creationId xmlns:a16="http://schemas.microsoft.com/office/drawing/2014/main" id="{6546FDEF-5671-8622-77DF-3C83900711E3}"/>
                </a:ext>
              </a:extLst>
            </p:cNvPr>
            <p:cNvCxnSpPr/>
            <p:nvPr/>
          </p:nvCxnSpPr>
          <p:spPr>
            <a:xfrm>
              <a:off x="4023000" y="225000"/>
              <a:ext cx="1440" cy="144864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2" name="Google Shape;283;p33">
              <a:extLst>
                <a:ext uri="{FF2B5EF4-FFF2-40B4-BE49-F238E27FC236}">
                  <a16:creationId xmlns:a16="http://schemas.microsoft.com/office/drawing/2014/main" id="{2DC9E5B5-D568-1025-F224-13B812A14D58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23" name="Google Shape;284;p33">
              <a:extLst>
                <a:ext uri="{FF2B5EF4-FFF2-40B4-BE49-F238E27FC236}">
                  <a16:creationId xmlns:a16="http://schemas.microsoft.com/office/drawing/2014/main" id="{F31C9422-9388-71BF-8D0D-A09B2EDF8769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24" name="PlaceHolder 1">
            <a:extLst>
              <a:ext uri="{FF2B5EF4-FFF2-40B4-BE49-F238E27FC236}">
                <a16:creationId xmlns:a16="http://schemas.microsoft.com/office/drawing/2014/main" id="{4E19D910-8675-22FA-C46A-10201A46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381600"/>
            <a:ext cx="3510819" cy="631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</a:rPr>
              <a:t>Workflow 4- Email Draft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>
            <a:extLst>
              <a:ext uri="{FF2B5EF4-FFF2-40B4-BE49-F238E27FC236}">
                <a16:creationId xmlns:a16="http://schemas.microsoft.com/office/drawing/2014/main" id="{82B5184C-407C-5A6C-3198-FFF8926B391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4100" y="994402"/>
            <a:ext cx="4273920" cy="391941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1100" b="1" dirty="0"/>
              <a:t>Example:</a:t>
            </a:r>
            <a:endParaRPr lang="en-US" sz="1100" dirty="0"/>
          </a:p>
          <a:p>
            <a:r>
              <a:rPr lang="en-US" sz="1100" b="1" dirty="0"/>
              <a:t>Voice Input</a:t>
            </a:r>
            <a:r>
              <a:rPr lang="en-US" sz="1100" dirty="0"/>
              <a:t>: "Need to email the client about project delay. Apologize for the 2-week setback due to API changes. Assure them we're back on track. New delivery date is March 15th. Offer a 10% discount for the inconvenience.“</a:t>
            </a:r>
          </a:p>
          <a:p>
            <a:endParaRPr lang="en-US" sz="1100" dirty="0"/>
          </a:p>
          <a:p>
            <a:r>
              <a:rPr lang="en-US" sz="1100" b="1" dirty="0"/>
              <a:t>Generated Email</a:t>
            </a:r>
            <a:r>
              <a:rPr lang="en-US" sz="1100" dirty="0"/>
              <a:t>:</a:t>
            </a:r>
          </a:p>
          <a:p>
            <a:pPr lvl="1"/>
            <a:r>
              <a:rPr lang="en-US" sz="1100" b="1" dirty="0"/>
              <a:t>Subject</a:t>
            </a:r>
            <a:r>
              <a:rPr lang="en-US" sz="1100" dirty="0"/>
              <a:t>: Project Timeline Update - Revised Delivery Date</a:t>
            </a:r>
          </a:p>
          <a:p>
            <a:pPr lvl="1"/>
            <a:r>
              <a:rPr lang="en-US" sz="1100" b="1" dirty="0"/>
              <a:t>Body</a:t>
            </a:r>
            <a:r>
              <a:rPr lang="en-US" sz="1100" dirty="0"/>
              <a:t>: Professional apology, explanation, new timeline, discount offer, closing</a:t>
            </a:r>
          </a:p>
          <a:p>
            <a:pPr lvl="1"/>
            <a:endParaRPr lang="en-US" sz="1100" dirty="0"/>
          </a:p>
          <a:p>
            <a:r>
              <a:rPr lang="en-US" sz="1100" b="1" dirty="0"/>
              <a:t>Key Features:</a:t>
            </a:r>
            <a:endParaRPr lang="en-US" sz="1100" dirty="0"/>
          </a:p>
          <a:p>
            <a:r>
              <a:rPr lang="en-US" sz="1100" dirty="0"/>
              <a:t>Automatic subject line generation</a:t>
            </a:r>
          </a:p>
          <a:p>
            <a:r>
              <a:rPr lang="en-US" sz="1100" dirty="0"/>
              <a:t>Professional tone and formatting</a:t>
            </a:r>
          </a:p>
          <a:p>
            <a:r>
              <a:rPr lang="en-US" sz="1100" dirty="0"/>
              <a:t>Proper greeting and closing</a:t>
            </a:r>
          </a:p>
          <a:p>
            <a:r>
              <a:rPr lang="en-US" sz="1100" dirty="0"/>
              <a:t>Maintains key message points</a:t>
            </a:r>
          </a:p>
          <a:p>
            <a:endParaRPr lang="en-US" sz="1100" dirty="0"/>
          </a:p>
          <a:p>
            <a:r>
              <a:rPr lang="en-US" sz="1100" dirty="0"/>
              <a:t>Ready to copy-paste or send</a:t>
            </a:r>
          </a:p>
          <a:p>
            <a:r>
              <a:rPr lang="en-US" sz="1100" b="1" dirty="0"/>
              <a:t>Use Cases:</a:t>
            </a:r>
            <a:endParaRPr lang="en-US" sz="1100" dirty="0"/>
          </a:p>
          <a:p>
            <a:r>
              <a:rPr lang="en-US" sz="1100" dirty="0"/>
              <a:t>Sales reps drafting client follow-ups</a:t>
            </a:r>
          </a:p>
          <a:p>
            <a:r>
              <a:rPr lang="en-US" sz="1100" dirty="0"/>
              <a:t>Customer support responses</a:t>
            </a:r>
          </a:p>
          <a:p>
            <a:r>
              <a:rPr lang="en-US" sz="1100" dirty="0"/>
              <a:t>Business correspondence</a:t>
            </a:r>
          </a:p>
          <a:p>
            <a:r>
              <a:rPr lang="en-US" sz="1100" dirty="0"/>
              <a:t>Internal team communications</a:t>
            </a:r>
          </a:p>
          <a:p>
            <a:endParaRPr lang="en-US" sz="1100" dirty="0"/>
          </a:p>
          <a:p>
            <a:r>
              <a:rPr lang="en-US" sz="1100" b="1" dirty="0"/>
              <a:t>Result</a:t>
            </a:r>
            <a:r>
              <a:rPr lang="en-US" sz="1100" dirty="0"/>
              <a:t>: Quick voice thought → Professional email in 3 seconds</a:t>
            </a:r>
          </a:p>
        </p:txBody>
      </p:sp>
      <p:sp>
        <p:nvSpPr>
          <p:cNvPr id="127" name="PlaceHolder 3">
            <a:extLst>
              <a:ext uri="{FF2B5EF4-FFF2-40B4-BE49-F238E27FC236}">
                <a16:creationId xmlns:a16="http://schemas.microsoft.com/office/drawing/2014/main" id="{A0A0705B-4CB4-C352-709D-C40B480AD809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8D4E51A7-D86E-4AB5-9AD0-E1E95C83046E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8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43C64B3-5D9D-D581-E154-004BAB4CFAD5}"/>
              </a:ext>
            </a:extLst>
          </p:cNvPr>
          <p:cNvSpPr txBox="1">
            <a:spLocks/>
          </p:cNvSpPr>
          <p:nvPr/>
        </p:nvSpPr>
        <p:spPr>
          <a:xfrm>
            <a:off x="196758" y="3102266"/>
            <a:ext cx="3832722" cy="17148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 dirty="0"/>
              <a:t>Purpose:</a:t>
            </a:r>
            <a:br>
              <a:rPr lang="en-US" sz="1100" dirty="0"/>
            </a:br>
            <a:r>
              <a:rPr lang="en-US" sz="1100" dirty="0"/>
              <a:t>Convert voice thoughts into polished, professional emails ready to send</a:t>
            </a:r>
          </a:p>
          <a:p>
            <a:endParaRPr lang="en-US" sz="1100" dirty="0"/>
          </a:p>
          <a:p>
            <a:r>
              <a:rPr lang="en-US" sz="1100" b="1" dirty="0"/>
              <a:t>How It Works:</a:t>
            </a:r>
            <a:endParaRPr lang="en-US" sz="1100" dirty="0"/>
          </a:p>
          <a:p>
            <a:r>
              <a:rPr lang="en-US" sz="1100" b="1" dirty="0"/>
              <a:t>Input</a:t>
            </a:r>
            <a:r>
              <a:rPr lang="en-US" sz="1100" dirty="0"/>
              <a:t>: Voice note with email context and key points</a:t>
            </a:r>
          </a:p>
          <a:p>
            <a:r>
              <a:rPr lang="en-US" sz="1100" b="1" dirty="0"/>
              <a:t>GPT-4 Processing</a:t>
            </a:r>
            <a:r>
              <a:rPr lang="en-US" sz="1100" dirty="0"/>
              <a:t>: Structures content into professional email format</a:t>
            </a:r>
          </a:p>
          <a:p>
            <a:r>
              <a:rPr lang="en-US" sz="1100" b="1" dirty="0"/>
              <a:t>Output</a:t>
            </a:r>
            <a:r>
              <a:rPr lang="en-US" sz="1100" dirty="0"/>
              <a:t>: Subject line + formatted email body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8EA1F1-BAEF-D992-1458-919F7FED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80" y="958506"/>
            <a:ext cx="2668596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9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7135-D7A9-3806-5331-B41ED1FA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3">
            <a:extLst>
              <a:ext uri="{FF2B5EF4-FFF2-40B4-BE49-F238E27FC236}">
                <a16:creationId xmlns:a16="http://schemas.microsoft.com/office/drawing/2014/main" id="{E53E679D-790C-2BB4-B79A-213C4105D68C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3130108-47C5-4988-AEB2-F4842A29EB2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9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3" name="Google Shape;283;p33">
            <a:extLst>
              <a:ext uri="{FF2B5EF4-FFF2-40B4-BE49-F238E27FC236}">
                <a16:creationId xmlns:a16="http://schemas.microsoft.com/office/drawing/2014/main" id="{2D0EA3B3-2DAD-ABA3-C9E7-84E4E57493B6}"/>
              </a:ext>
            </a:extLst>
          </p:cNvPr>
          <p:cNvCxnSpPr>
            <a:cxnSpLocks/>
          </p:cNvCxnSpPr>
          <p:nvPr/>
        </p:nvCxnSpPr>
        <p:spPr>
          <a:xfrm>
            <a:off x="228420" y="880282"/>
            <a:ext cx="8488860" cy="0"/>
          </a:xfrm>
          <a:prstGeom prst="straightConnector1">
            <a:avLst/>
          </a:prstGeom>
          <a:ln w="9525">
            <a:solidFill>
              <a:srgbClr val="A92422"/>
            </a:solidFill>
            <a:round/>
          </a:ln>
        </p:spPr>
      </p:cxnSp>
      <p:sp>
        <p:nvSpPr>
          <p:cNvPr id="15" name="PlaceHolder 1">
            <a:extLst>
              <a:ext uri="{FF2B5EF4-FFF2-40B4-BE49-F238E27FC236}">
                <a16:creationId xmlns:a16="http://schemas.microsoft.com/office/drawing/2014/main" id="{501E6358-3DE0-61CC-BD8D-1DB7F222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381600"/>
            <a:ext cx="7011199" cy="631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</a:rPr>
              <a:t>Workflow 1 &amp; 2- Blog Post Generator &amp; Text Extraction(Visuals)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D56F37-8A9A-33AE-FCE5-40A5FDA65A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124" y="951793"/>
            <a:ext cx="3256614" cy="40850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FC4541-8ED9-A259-80BA-AFBB9068CC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1" y="960546"/>
            <a:ext cx="3253739" cy="408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95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E900-05B8-6825-DA58-B0DF6884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3">
            <a:extLst>
              <a:ext uri="{FF2B5EF4-FFF2-40B4-BE49-F238E27FC236}">
                <a16:creationId xmlns:a16="http://schemas.microsoft.com/office/drawing/2014/main" id="{28FF4DD2-1D6C-61CA-B913-08F32B89E818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3130108-47C5-4988-AEB2-F4842A29EB2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10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13" name="Google Shape;283;p33">
            <a:extLst>
              <a:ext uri="{FF2B5EF4-FFF2-40B4-BE49-F238E27FC236}">
                <a16:creationId xmlns:a16="http://schemas.microsoft.com/office/drawing/2014/main" id="{0618C48E-1DED-6C31-5536-235C32286102}"/>
              </a:ext>
            </a:extLst>
          </p:cNvPr>
          <p:cNvCxnSpPr>
            <a:cxnSpLocks/>
          </p:cNvCxnSpPr>
          <p:nvPr/>
        </p:nvCxnSpPr>
        <p:spPr>
          <a:xfrm>
            <a:off x="228420" y="880282"/>
            <a:ext cx="8488860" cy="0"/>
          </a:xfrm>
          <a:prstGeom prst="straightConnector1">
            <a:avLst/>
          </a:prstGeom>
          <a:ln w="9525">
            <a:solidFill>
              <a:srgbClr val="A92422"/>
            </a:solidFill>
            <a:round/>
          </a:ln>
        </p:spPr>
      </p:cxnSp>
      <p:sp>
        <p:nvSpPr>
          <p:cNvPr id="15" name="PlaceHolder 1">
            <a:extLst>
              <a:ext uri="{FF2B5EF4-FFF2-40B4-BE49-F238E27FC236}">
                <a16:creationId xmlns:a16="http://schemas.microsoft.com/office/drawing/2014/main" id="{6FE821B6-DEA7-3767-97BB-B601EBEA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381600"/>
            <a:ext cx="7011199" cy="6311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dk1"/>
                </a:solidFill>
                <a:latin typeface="Spline Sans"/>
              </a:rPr>
              <a:t>Workflow 3 &amp; 4- Meeting Notes &amp; Email Draft (Visuals)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F48838-7B16-FC35-83A0-02A575A4D3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661" y="931082"/>
            <a:ext cx="3310058" cy="41520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3235C3-3F24-7E8C-8F31-324ED880D3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381" y="941632"/>
            <a:ext cx="3293063" cy="413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335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202;p29"/>
          <p:cNvGrpSpPr/>
          <p:nvPr/>
        </p:nvGrpSpPr>
        <p:grpSpPr>
          <a:xfrm>
            <a:off x="228960" y="228600"/>
            <a:ext cx="8792028" cy="4686300"/>
            <a:chOff x="2947086" y="992632"/>
            <a:chExt cx="8792028" cy="4686300"/>
          </a:xfrm>
        </p:grpSpPr>
        <p:cxnSp>
          <p:nvCxnSpPr>
            <p:cNvPr id="159" name="Google Shape;203;p29"/>
            <p:cNvCxnSpPr>
              <a:cxnSpLocks/>
            </p:cNvCxnSpPr>
            <p:nvPr/>
          </p:nvCxnSpPr>
          <p:spPr>
            <a:xfrm>
              <a:off x="7280280" y="3466800"/>
              <a:ext cx="9846" cy="2212132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0" name="Google Shape;204;p29"/>
            <p:cNvCxnSpPr/>
            <p:nvPr/>
          </p:nvCxnSpPr>
          <p:spPr>
            <a:xfrm>
              <a:off x="7280280" y="323820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61" name="Google Shape;205;p29"/>
            <p:cNvCxnSpPr/>
            <p:nvPr/>
          </p:nvCxnSpPr>
          <p:spPr>
            <a:xfrm>
              <a:off x="7176960" y="335232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62" name="Google Shape;206;p29"/>
            <p:cNvCxnSpPr>
              <a:cxnSpLocks/>
            </p:cNvCxnSpPr>
            <p:nvPr/>
          </p:nvCxnSpPr>
          <p:spPr>
            <a:xfrm>
              <a:off x="7280280" y="992632"/>
              <a:ext cx="0" cy="2216311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3" name="Google Shape;207;p29"/>
            <p:cNvCxnSpPr>
              <a:cxnSpLocks/>
            </p:cNvCxnSpPr>
            <p:nvPr/>
          </p:nvCxnSpPr>
          <p:spPr>
            <a:xfrm>
              <a:off x="2947086" y="3352680"/>
              <a:ext cx="4230234" cy="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64" name="Google Shape;208;p29"/>
            <p:cNvCxnSpPr>
              <a:cxnSpLocks/>
            </p:cNvCxnSpPr>
            <p:nvPr/>
          </p:nvCxnSpPr>
          <p:spPr>
            <a:xfrm>
              <a:off x="7405560" y="3352320"/>
              <a:ext cx="4333554" cy="5652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5849" y="50415"/>
            <a:ext cx="3834876" cy="6051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IN" sz="2000" b="1" dirty="0"/>
              <a:t>Technical Features &amp; Security</a:t>
            </a:r>
            <a:endParaRPr lang="fr-FR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ubTitle"/>
          </p:nvPr>
        </p:nvSpPr>
        <p:spPr>
          <a:xfrm>
            <a:off x="352037" y="680925"/>
            <a:ext cx="3342500" cy="14954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1" dirty="0"/>
              <a:t>Core Technical Stack:</a:t>
            </a:r>
            <a:endParaRPr lang="en-IN" sz="12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1" dirty="0"/>
              <a:t>Node.js 20</a:t>
            </a:r>
            <a:r>
              <a:rPr lang="en-IN" sz="1200" dirty="0"/>
              <a:t> - Modern JavaScript runtime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1" dirty="0"/>
              <a:t>Express 4.19.2</a:t>
            </a:r>
            <a:r>
              <a:rPr lang="en-IN" sz="1200" dirty="0"/>
              <a:t> - Fast, minimal web framework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1" dirty="0"/>
              <a:t>OpenAI GPT-4o-mini</a:t>
            </a:r>
            <a:r>
              <a:rPr lang="en-IN" sz="1200" dirty="0"/>
              <a:t> - AI processing engine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1" dirty="0"/>
              <a:t>Zod 3.23.8</a:t>
            </a:r>
            <a:r>
              <a:rPr lang="en-IN" sz="1200" dirty="0"/>
              <a:t> - Schema validation and type safety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b="1" dirty="0"/>
              <a:t>Docker</a:t>
            </a:r>
            <a:r>
              <a:rPr lang="en-IN" sz="1200" dirty="0"/>
              <a:t> - Containerized deployment</a:t>
            </a:r>
          </a:p>
        </p:txBody>
      </p:sp>
      <p:sp>
        <p:nvSpPr>
          <p:cNvPr id="167" name="PlaceHolder 3"/>
          <p:cNvSpPr>
            <a:spLocks noGrp="1"/>
          </p:cNvSpPr>
          <p:nvPr>
            <p:ph type="sldNum" idx="29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2EBF1A21-1CE2-41BF-AD3B-6845F6D727A9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4064639B-5166-156C-FDB5-C63E3DE3FE56}"/>
              </a:ext>
            </a:extLst>
          </p:cNvPr>
          <p:cNvSpPr txBox="1">
            <a:spLocks/>
          </p:cNvSpPr>
          <p:nvPr/>
        </p:nvSpPr>
        <p:spPr>
          <a:xfrm>
            <a:off x="5203275" y="3054182"/>
            <a:ext cx="3342500" cy="14954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IN" b="1" dirty="0"/>
              <a:t>Developer Experience:</a:t>
            </a:r>
            <a:endParaRPr lang="en-IN" dirty="0"/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ES modules (modern JavaScript)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Clear error messages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Comprehensive documentation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One-command deployment</a:t>
            </a:r>
          </a:p>
          <a:p>
            <a:pPr marL="571500" indent="-5715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Auto-deploy from GitHub</a:t>
            </a: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9D3A93E6-4BB8-6073-340C-14287F271CA6}"/>
              </a:ext>
            </a:extLst>
          </p:cNvPr>
          <p:cNvSpPr txBox="1">
            <a:spLocks/>
          </p:cNvSpPr>
          <p:nvPr/>
        </p:nvSpPr>
        <p:spPr>
          <a:xfrm>
            <a:off x="462301" y="2952245"/>
            <a:ext cx="3342500" cy="159737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N" sz="1200" b="1" dirty="0"/>
              <a:t>Performance &amp; Reliability:</a:t>
            </a:r>
            <a:endParaRPr lang="en-IN" sz="12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Response time: 2-5 seconds average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Error handling with graceful fallbacks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Structured logging (ERROR, WARN, INFO, DEBUG)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Health check endpoint for monitoring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Metrics endpoint for performance tracking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/>
              <a:t>99%+ uptime on Render</a:t>
            </a: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A785A456-9680-34C8-DD32-8526BD3CCE14}"/>
              </a:ext>
            </a:extLst>
          </p:cNvPr>
          <p:cNvSpPr txBox="1">
            <a:spLocks/>
          </p:cNvSpPr>
          <p:nvPr/>
        </p:nvSpPr>
        <p:spPr>
          <a:xfrm>
            <a:off x="4907196" y="655560"/>
            <a:ext cx="3342500" cy="14954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b="1" dirty="0"/>
              <a:t>Authentication &amp; Security:</a:t>
            </a:r>
            <a:endParaRPr lang="en-IN" sz="1200" dirty="0"/>
          </a:p>
          <a:p>
            <a:r>
              <a:rPr lang="en-IN" sz="1200" dirty="0"/>
              <a:t>✅ Bearer token authentication</a:t>
            </a:r>
          </a:p>
          <a:p>
            <a:r>
              <a:rPr lang="en-IN" sz="1200" dirty="0"/>
              <a:t>✅ API key validation (x-</a:t>
            </a:r>
            <a:r>
              <a:rPr lang="en-IN" sz="1200" dirty="0" err="1"/>
              <a:t>api</a:t>
            </a:r>
            <a:r>
              <a:rPr lang="en-IN" sz="1200" dirty="0"/>
              <a:t>-key header)</a:t>
            </a:r>
          </a:p>
          <a:p>
            <a:r>
              <a:rPr lang="en-IN" sz="1200" dirty="0"/>
              <a:t>✅ Rate limiting: 60 requests/min per IP</a:t>
            </a:r>
          </a:p>
          <a:p>
            <a:r>
              <a:rPr lang="en-IN" sz="1200" dirty="0"/>
              <a:t>✅ Request payload validation (Zod schemas)</a:t>
            </a:r>
          </a:p>
          <a:p>
            <a:r>
              <a:rPr lang="en-IN" sz="1200" dirty="0"/>
              <a:t>✅ Environment-based secrets (no hardcoded keys)</a:t>
            </a:r>
          </a:p>
          <a:p>
            <a:pPr>
              <a:lnSpc>
                <a:spcPct val="120000"/>
              </a:lnSpc>
            </a:pPr>
            <a:r>
              <a:rPr lang="en-IN" sz="1200" dirty="0"/>
              <a:t>✅ HTTPS enforcement on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/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/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/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/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/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/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/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28600" y="209520"/>
            <a:ext cx="4543200" cy="1095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1" dirty="0"/>
              <a:t>Live Demo &amp; Web Interface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4169723" y="1015560"/>
            <a:ext cx="4424677" cy="38841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1100" b="1" dirty="0"/>
              <a:t>Web Interface Features: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Beautiful purple/blue gradient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4 interactive workflow tabs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Real-time GPT-4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Instant results display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No signup or authentication required for demo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IN" sz="1100" b="1" dirty="0"/>
              <a:t>Testing Made Easy: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Pre-filled example inputs for each workflow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Copy-paste your own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See results in 2-5 seconds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Works on mobile and desktop</a:t>
            </a:r>
          </a:p>
          <a:p>
            <a:endParaRPr lang="en-IN" sz="1100" dirty="0"/>
          </a:p>
          <a:p>
            <a:r>
              <a:rPr lang="en-IN" sz="1100" b="1" dirty="0"/>
              <a:t>Screenshot Highlights: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Clean, modern UI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Loading animations during 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Formatted output with proper styling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Error handling with friendly messages</a:t>
            </a:r>
          </a:p>
          <a:p>
            <a:endParaRPr lang="en-IN" sz="1100" dirty="0"/>
          </a:p>
          <a:p>
            <a:r>
              <a:rPr lang="en-IN" sz="1100" b="1" dirty="0"/>
              <a:t>Try It Now:</a:t>
            </a:r>
            <a:br>
              <a:rPr lang="en-IN" sz="1100" dirty="0"/>
            </a:br>
            <a:r>
              <a:rPr lang="en-IN" sz="1100" dirty="0"/>
              <a:t>Open browser → Enter URL → Select workflow → Click generate → See magic happen!</a:t>
            </a:r>
          </a:p>
          <a:p>
            <a:endParaRPr lang="en-US" sz="1100" dirty="0"/>
          </a:p>
          <a:p>
            <a:pPr algn="just">
              <a:lnSpc>
                <a:spcPct val="150000"/>
              </a:lnSpc>
              <a:tabLst>
                <a:tab pos="0" algn="l"/>
              </a:tabLst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7" name="Google Shape;287;p33"/>
          <p:cNvPicPr/>
          <p:nvPr/>
        </p:nvPicPr>
        <p:blipFill>
          <a:blip r:embed="rId2"/>
          <a:srcRect t="3175" r="6690"/>
          <a:stretch/>
        </p:blipFill>
        <p:spPr>
          <a:xfrm>
            <a:off x="374244" y="1047856"/>
            <a:ext cx="3369831" cy="176528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PlaceHolder 3"/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12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0401B-510B-AD47-6754-548D459D0C14}"/>
              </a:ext>
            </a:extLst>
          </p:cNvPr>
          <p:cNvSpPr txBox="1"/>
          <p:nvPr/>
        </p:nvSpPr>
        <p:spPr>
          <a:xfrm>
            <a:off x="199800" y="3046500"/>
            <a:ext cx="354427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0" dirty="0">
                <a:effectLst/>
                <a:latin typeface="Segoe WPC"/>
              </a:rPr>
              <a:t>Interactive Testing Platform:</a:t>
            </a:r>
            <a:br>
              <a:rPr lang="en-US" sz="1100" dirty="0"/>
            </a:br>
            <a:r>
              <a:rPr lang="en-US" sz="1100" b="0" i="0" dirty="0">
                <a:effectLst/>
                <a:latin typeface="Segoe WPC"/>
              </a:rPr>
              <a:t>🌐 </a:t>
            </a:r>
            <a:r>
              <a:rPr lang="en-US" sz="1100" b="1" i="0" dirty="0">
                <a:effectLst/>
                <a:latin typeface="Segoe WPC"/>
              </a:rPr>
              <a:t>Live URL</a:t>
            </a:r>
            <a:r>
              <a:rPr lang="en-US" sz="1100" b="0" i="0" dirty="0">
                <a:effectLst/>
                <a:latin typeface="Segoe WPC"/>
              </a:rPr>
              <a:t>: speakops-action-automation-from-spoken.onrender.com</a:t>
            </a:r>
            <a:endParaRPr lang="en-IN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8136E-843E-0BE5-E063-88263700E4EE}"/>
              </a:ext>
            </a:extLst>
          </p:cNvPr>
          <p:cNvSpPr txBox="1"/>
          <p:nvPr/>
        </p:nvSpPr>
        <p:spPr>
          <a:xfrm>
            <a:off x="228600" y="4008038"/>
            <a:ext cx="379547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GET  /health    → System status check</a:t>
            </a:r>
          </a:p>
          <a:p>
            <a:r>
              <a:rPr lang="en-IN" sz="1100" dirty="0"/>
              <a:t>GET  /metrics   → Performance statistics</a:t>
            </a:r>
          </a:p>
          <a:p>
            <a:r>
              <a:rPr lang="en-IN" sz="1100" dirty="0"/>
              <a:t>POST /</a:t>
            </a:r>
            <a:r>
              <a:rPr lang="en-IN" sz="1100" dirty="0" err="1"/>
              <a:t>api</a:t>
            </a:r>
            <a:r>
              <a:rPr lang="en-IN" sz="1100" dirty="0"/>
              <a:t>/</a:t>
            </a:r>
            <a:r>
              <a:rPr lang="en-IN" sz="1100" dirty="0" err="1"/>
              <a:t>speakspace</a:t>
            </a:r>
            <a:r>
              <a:rPr lang="en-IN" sz="1100" dirty="0"/>
              <a:t>-action → Main workflow endpoint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A8085C-DCD3-B747-4F50-F2BCE7AC554A}"/>
              </a:ext>
            </a:extLst>
          </p:cNvPr>
          <p:cNvSpPr txBox="1"/>
          <p:nvPr/>
        </p:nvSpPr>
        <p:spPr>
          <a:xfrm>
            <a:off x="228600" y="3798459"/>
            <a:ext cx="3058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0" dirty="0">
                <a:effectLst/>
                <a:latin typeface="Segoe WPC"/>
              </a:rPr>
              <a:t>Available API Endpoints:</a:t>
            </a:r>
            <a:endParaRPr lang="en-IN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04BFF-03B0-0097-6E6A-F3CB5B59B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>
            <a:extLst>
              <a:ext uri="{FF2B5EF4-FFF2-40B4-BE49-F238E27FC236}">
                <a16:creationId xmlns:a16="http://schemas.microsoft.com/office/drawing/2014/main" id="{05CB608A-90D8-FA73-8BF4-33CADBBDCCC4}"/>
              </a:ext>
            </a:extLst>
          </p:cNvPr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>
              <a:extLst>
                <a:ext uri="{FF2B5EF4-FFF2-40B4-BE49-F238E27FC236}">
                  <a16:creationId xmlns:a16="http://schemas.microsoft.com/office/drawing/2014/main" id="{8C3BD68E-340E-9F1D-DB9C-11253A9EAFDA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>
              <a:extLst>
                <a:ext uri="{FF2B5EF4-FFF2-40B4-BE49-F238E27FC236}">
                  <a16:creationId xmlns:a16="http://schemas.microsoft.com/office/drawing/2014/main" id="{918A188C-628B-20F6-2470-645725889C6F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>
              <a:extLst>
                <a:ext uri="{FF2B5EF4-FFF2-40B4-BE49-F238E27FC236}">
                  <a16:creationId xmlns:a16="http://schemas.microsoft.com/office/drawing/2014/main" id="{2C23B936-BCC9-BE6F-6AB2-7527F71C5255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>
              <a:extLst>
                <a:ext uri="{FF2B5EF4-FFF2-40B4-BE49-F238E27FC236}">
                  <a16:creationId xmlns:a16="http://schemas.microsoft.com/office/drawing/2014/main" id="{385AE2D2-322C-0AD5-BE0E-7C71AB5FC9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>
              <a:extLst>
                <a:ext uri="{FF2B5EF4-FFF2-40B4-BE49-F238E27FC236}">
                  <a16:creationId xmlns:a16="http://schemas.microsoft.com/office/drawing/2014/main" id="{042D41D7-17A8-E8AB-691B-678EE8611680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>
              <a:extLst>
                <a:ext uri="{FF2B5EF4-FFF2-40B4-BE49-F238E27FC236}">
                  <a16:creationId xmlns:a16="http://schemas.microsoft.com/office/drawing/2014/main" id="{21D1227D-38B7-EBED-4E4E-C98E386923E8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>
            <a:extLst>
              <a:ext uri="{FF2B5EF4-FFF2-40B4-BE49-F238E27FC236}">
                <a16:creationId xmlns:a16="http://schemas.microsoft.com/office/drawing/2014/main" id="{BAB50867-8A88-A944-3887-992CD9C72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9520"/>
            <a:ext cx="3317726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1" dirty="0"/>
              <a:t>Deployment &amp; Infrastructure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>
            <a:extLst>
              <a:ext uri="{FF2B5EF4-FFF2-40B4-BE49-F238E27FC236}">
                <a16:creationId xmlns:a16="http://schemas.microsoft.com/office/drawing/2014/main" id="{631C948B-7370-FB2A-5E66-3D87D2AD2C9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2341" y="1126337"/>
            <a:ext cx="4424677" cy="36626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100" b="1" dirty="0"/>
              <a:t>Containerization:</a:t>
            </a:r>
            <a:endParaRPr lang="en-IN" sz="11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b="1" dirty="0" err="1"/>
              <a:t>Dockerfile</a:t>
            </a:r>
            <a:r>
              <a:rPr lang="en-IN" sz="1100" dirty="0"/>
              <a:t> with Node.js 20 Alpine base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Multi-stage build for optimization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Contains: backend API + frontend files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Portable across any Docker environment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Environment Configuration:</a:t>
            </a:r>
            <a:endParaRPr lang="en-IN" sz="11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All secrets in environment variables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No sensitive data in codebase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hlinkClick r:id="rId2"/>
              </a:rPr>
              <a:t>.</a:t>
            </a:r>
            <a:r>
              <a:rPr lang="en-IN" sz="1100" dirty="0" err="1">
                <a:hlinkClick r:id="rId2"/>
              </a:rPr>
              <a:t>env.example</a:t>
            </a:r>
            <a:r>
              <a:rPr lang="en-IN" sz="1100" dirty="0"/>
              <a:t> for local development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Production config in Render dashboard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Monitoring &amp; Logs:</a:t>
            </a:r>
            <a:endParaRPr lang="en-IN" sz="11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Real-time logs in Render dashboard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Health check endpoint for uptime monitoring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Metrics endpoint for performance tracking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Structured JSON logging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Repository:</a:t>
            </a:r>
            <a:endParaRPr lang="en-IN" sz="1100" dirty="0"/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GitHub: </a:t>
            </a:r>
            <a:r>
              <a:rPr lang="en-IN" sz="1100" dirty="0" err="1"/>
              <a:t>SoliVox</a:t>
            </a:r>
            <a:r>
              <a:rPr lang="en-IN" sz="1100" dirty="0"/>
              <a:t>/</a:t>
            </a:r>
            <a:r>
              <a:rPr lang="en-IN" sz="1100" dirty="0" err="1"/>
              <a:t>SpeakOps</a:t>
            </a:r>
            <a:r>
              <a:rPr lang="en-IN" sz="1100" dirty="0"/>
              <a:t>-Action-Automation-from-Spoken-Input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CI/CD: Auto-deploy on main branch push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100" dirty="0"/>
              <a:t>Version control: All changes tracked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Scalability:</a:t>
            </a:r>
            <a:r>
              <a:rPr lang="en-IN" sz="1100" dirty="0"/>
              <a:t> Ready to scale from free tier to production workloads.</a:t>
            </a: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6CC7A13A-07C6-BBFF-639C-CA2DC6519C73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13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A45CF-6EAA-7264-CAC0-CD7D27ED7818}"/>
              </a:ext>
            </a:extLst>
          </p:cNvPr>
          <p:cNvSpPr txBox="1"/>
          <p:nvPr/>
        </p:nvSpPr>
        <p:spPr>
          <a:xfrm>
            <a:off x="272354" y="2957650"/>
            <a:ext cx="354427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Hosting Platform:</a:t>
            </a:r>
            <a:endParaRPr lang="en-IN" sz="1100" dirty="0"/>
          </a:p>
          <a:p>
            <a:r>
              <a:rPr lang="en-IN" sz="1100" b="1" dirty="0"/>
              <a:t>Render</a:t>
            </a:r>
            <a:r>
              <a:rPr lang="en-IN" sz="1100" dirty="0"/>
              <a:t> - Cloud application platform</a:t>
            </a:r>
          </a:p>
          <a:p>
            <a:r>
              <a:rPr lang="en-IN" sz="1100" dirty="0"/>
              <a:t>Free tier with auto-scaling</a:t>
            </a:r>
          </a:p>
          <a:p>
            <a:r>
              <a:rPr lang="en-IN" sz="1100" dirty="0"/>
              <a:t>Automatic HTTPS/SSL certificates</a:t>
            </a:r>
          </a:p>
          <a:p>
            <a:r>
              <a:rPr lang="en-IN" sz="1100" dirty="0"/>
              <a:t>Zero-downtime deployments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B8AE1-9E75-95C8-E5B4-5DCD49BBB12B}"/>
              </a:ext>
            </a:extLst>
          </p:cNvPr>
          <p:cNvSpPr txBox="1"/>
          <p:nvPr/>
        </p:nvSpPr>
        <p:spPr>
          <a:xfrm>
            <a:off x="272354" y="4084133"/>
            <a:ext cx="3113183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0" dirty="0">
                <a:effectLst/>
                <a:latin typeface="Segoe WPC"/>
              </a:rPr>
              <a:t>Deployment Pipeline:</a:t>
            </a:r>
          </a:p>
          <a:p>
            <a:r>
              <a:rPr lang="en-IN" sz="1100" dirty="0"/>
              <a:t>GitHub Push → Render Webhook → Docker Build → Container Deploy → Live in 2-3 minutes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75B99-5CBB-495F-15A9-E45B62493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7" y="1247131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33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EA49-0893-E5F2-1892-769384D72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>
            <a:extLst>
              <a:ext uri="{FF2B5EF4-FFF2-40B4-BE49-F238E27FC236}">
                <a16:creationId xmlns:a16="http://schemas.microsoft.com/office/drawing/2014/main" id="{9CF0574F-B85C-4544-BD00-5CB0C374B58F}"/>
              </a:ext>
            </a:extLst>
          </p:cNvPr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>
              <a:extLst>
                <a:ext uri="{FF2B5EF4-FFF2-40B4-BE49-F238E27FC236}">
                  <a16:creationId xmlns:a16="http://schemas.microsoft.com/office/drawing/2014/main" id="{DCEEE18F-A978-C6C8-6F51-B42F7C3B5718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>
              <a:extLst>
                <a:ext uri="{FF2B5EF4-FFF2-40B4-BE49-F238E27FC236}">
                  <a16:creationId xmlns:a16="http://schemas.microsoft.com/office/drawing/2014/main" id="{A08E746C-1B63-68B7-5D9B-9D7C9CE0A434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>
              <a:extLst>
                <a:ext uri="{FF2B5EF4-FFF2-40B4-BE49-F238E27FC236}">
                  <a16:creationId xmlns:a16="http://schemas.microsoft.com/office/drawing/2014/main" id="{0ACFC32F-F5E3-11B8-2AFD-39D1B8B46291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>
              <a:extLst>
                <a:ext uri="{FF2B5EF4-FFF2-40B4-BE49-F238E27FC236}">
                  <a16:creationId xmlns:a16="http://schemas.microsoft.com/office/drawing/2014/main" id="{E915AD58-3915-CB7B-755E-98ABD6EEA9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>
              <a:extLst>
                <a:ext uri="{FF2B5EF4-FFF2-40B4-BE49-F238E27FC236}">
                  <a16:creationId xmlns:a16="http://schemas.microsoft.com/office/drawing/2014/main" id="{2857CCEA-D995-D925-C0E4-163C0E4CA359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>
              <a:extLst>
                <a:ext uri="{FF2B5EF4-FFF2-40B4-BE49-F238E27FC236}">
                  <a16:creationId xmlns:a16="http://schemas.microsoft.com/office/drawing/2014/main" id="{BE3C8491-4E39-4DF3-CE34-604ABEECC55C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>
            <a:extLst>
              <a:ext uri="{FF2B5EF4-FFF2-40B4-BE49-F238E27FC236}">
                <a16:creationId xmlns:a16="http://schemas.microsoft.com/office/drawing/2014/main" id="{8457E9BE-D66B-7411-0F2B-C250F63A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770" y="257142"/>
            <a:ext cx="2526767" cy="445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800" b="1" dirty="0"/>
              <a:t>Testing &amp; Validation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>
            <a:extLst>
              <a:ext uri="{FF2B5EF4-FFF2-40B4-BE49-F238E27FC236}">
                <a16:creationId xmlns:a16="http://schemas.microsoft.com/office/drawing/2014/main" id="{C77CF4D5-ADCA-C37B-2D9C-97F75922EB58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2341" y="949501"/>
            <a:ext cx="4424677" cy="38394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IN" sz="1100" b="1" dirty="0"/>
              <a:t>Workflow Validation: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Blog Post: Verified 600-800 word outputs with GPT-4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Task Extraction: JSON parsing and structure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Meeting Notes: Summary quality and action item extraction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Email Draft: Subject + body formatting</a:t>
            </a:r>
          </a:p>
          <a:p>
            <a:endParaRPr lang="en-IN" sz="1100" dirty="0"/>
          </a:p>
          <a:p>
            <a:r>
              <a:rPr lang="en-IN" sz="1100" b="1" dirty="0"/>
              <a:t>Error Handling Tests: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Invalid API keys → Fallback to mock responses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Missing payload fields → Clear error messages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Rate limiting → 429 after 60 requests/min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Network failures → Graceful degradation</a:t>
            </a:r>
          </a:p>
          <a:p>
            <a:endParaRPr lang="en-IN" sz="1100" dirty="0"/>
          </a:p>
          <a:p>
            <a:r>
              <a:rPr lang="en-IN" sz="1100" b="1" dirty="0"/>
              <a:t>Automated Testing:</a:t>
            </a:r>
          </a:p>
          <a:p>
            <a:pPr algn="ctr"/>
            <a:r>
              <a:rPr lang="en-US" sz="1100" b="1" u="sng" dirty="0"/>
              <a:t>test-api.ps1  # PowerShell test suite</a:t>
            </a:r>
            <a:endParaRPr lang="en-IN" sz="1100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Tests all endpoints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Validates response formats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Checks error scenarios</a:t>
            </a:r>
          </a:p>
          <a:p>
            <a:endParaRPr lang="en-IN" sz="1100" dirty="0"/>
          </a:p>
          <a:p>
            <a:r>
              <a:rPr lang="en-IN" sz="1100" b="1" dirty="0"/>
              <a:t>Production Readiness: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99%+ uptime verified on Render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Average response time: 2-5 seconds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Handles concurrent requests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Logs all errors for debugging</a:t>
            </a:r>
          </a:p>
          <a:p>
            <a:endParaRPr lang="en-IN" sz="1100" dirty="0"/>
          </a:p>
          <a:p>
            <a:r>
              <a:rPr lang="en-IN" sz="1100" b="1" dirty="0"/>
              <a:t>Result:</a:t>
            </a:r>
            <a:r>
              <a:rPr lang="en-IN" sz="1100" dirty="0"/>
              <a:t> Fully tested, production-ready system</a:t>
            </a: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AD90418B-F056-0B5A-433C-ABAA2369DFEA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14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149B6-7C6B-1C11-20A6-B495587BC020}"/>
              </a:ext>
            </a:extLst>
          </p:cNvPr>
          <p:cNvSpPr txBox="1"/>
          <p:nvPr/>
        </p:nvSpPr>
        <p:spPr>
          <a:xfrm>
            <a:off x="283858" y="3241856"/>
            <a:ext cx="354427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Comprehensive Testing Strategy:</a:t>
            </a:r>
            <a:endParaRPr lang="en-IN" sz="1100" dirty="0"/>
          </a:p>
          <a:p>
            <a:r>
              <a:rPr lang="en-IN" sz="1100" b="1" dirty="0"/>
              <a:t>API Endpoints Tested:</a:t>
            </a:r>
            <a:endParaRPr lang="en-IN" sz="1100" dirty="0"/>
          </a:p>
          <a:p>
            <a:r>
              <a:rPr lang="en-IN" sz="1100" dirty="0"/>
              <a:t>✅ /health - System status verification</a:t>
            </a:r>
          </a:p>
          <a:p>
            <a:r>
              <a:rPr lang="en-IN" sz="1100" dirty="0"/>
              <a:t>✅ </a:t>
            </a:r>
            <a:r>
              <a:rPr lang="en-IN" sz="1100" dirty="0">
                <a:hlinkClick r:id="rId2"/>
              </a:rPr>
              <a:t>/metrics</a:t>
            </a:r>
            <a:r>
              <a:rPr lang="en-IN" sz="1100" dirty="0"/>
              <a:t> - Performance monitoring</a:t>
            </a:r>
          </a:p>
          <a:p>
            <a:r>
              <a:rPr lang="en-IN" sz="1100" dirty="0"/>
              <a:t>✅ /</a:t>
            </a:r>
            <a:r>
              <a:rPr lang="en-IN" sz="1100" dirty="0" err="1"/>
              <a:t>api</a:t>
            </a:r>
            <a:r>
              <a:rPr lang="en-IN" sz="1100" dirty="0"/>
              <a:t>/</a:t>
            </a:r>
            <a:r>
              <a:rPr lang="en-IN" sz="1100" dirty="0" err="1"/>
              <a:t>speakspace</a:t>
            </a:r>
            <a:r>
              <a:rPr lang="en-IN" sz="1100" dirty="0"/>
              <a:t>-action - All 4 workflow types</a:t>
            </a:r>
          </a:p>
          <a:p>
            <a:r>
              <a:rPr lang="en-IN" sz="1100" dirty="0"/>
              <a:t>✅ Authentication (401 on invalid tokens)</a:t>
            </a:r>
          </a:p>
          <a:p>
            <a:r>
              <a:rPr lang="en-IN" sz="1100" dirty="0"/>
              <a:t>✅ Validation errors (400 on bad payloads)</a:t>
            </a:r>
          </a:p>
        </p:txBody>
      </p:sp>
    </p:spTree>
    <p:extLst>
      <p:ext uri="{BB962C8B-B14F-4D97-AF65-F5344CB8AC3E}">
        <p14:creationId xmlns:p14="http://schemas.microsoft.com/office/powerpoint/2010/main" val="528725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70BE5-9720-4B52-FB04-A219F5F5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>
            <a:extLst>
              <a:ext uri="{FF2B5EF4-FFF2-40B4-BE49-F238E27FC236}">
                <a16:creationId xmlns:a16="http://schemas.microsoft.com/office/drawing/2014/main" id="{4C6E8B0F-6FA4-51DF-E0E5-967EC999ED40}"/>
              </a:ext>
            </a:extLst>
          </p:cNvPr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>
              <a:extLst>
                <a:ext uri="{FF2B5EF4-FFF2-40B4-BE49-F238E27FC236}">
                  <a16:creationId xmlns:a16="http://schemas.microsoft.com/office/drawing/2014/main" id="{A573DCC4-9DAB-7577-C42D-57F76FC58CAD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>
              <a:extLst>
                <a:ext uri="{FF2B5EF4-FFF2-40B4-BE49-F238E27FC236}">
                  <a16:creationId xmlns:a16="http://schemas.microsoft.com/office/drawing/2014/main" id="{BD66C1DE-394A-2BB4-7DD6-BD73740DA77F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>
              <a:extLst>
                <a:ext uri="{FF2B5EF4-FFF2-40B4-BE49-F238E27FC236}">
                  <a16:creationId xmlns:a16="http://schemas.microsoft.com/office/drawing/2014/main" id="{C865BE18-24C8-CF8D-A62E-43C6639CA8C5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>
              <a:extLst>
                <a:ext uri="{FF2B5EF4-FFF2-40B4-BE49-F238E27FC236}">
                  <a16:creationId xmlns:a16="http://schemas.microsoft.com/office/drawing/2014/main" id="{89AAFA17-FBEF-2DF6-A8FF-271378B60B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>
              <a:extLst>
                <a:ext uri="{FF2B5EF4-FFF2-40B4-BE49-F238E27FC236}">
                  <a16:creationId xmlns:a16="http://schemas.microsoft.com/office/drawing/2014/main" id="{02475866-3F0D-25AE-44BC-38D4C35F1ED6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>
              <a:extLst>
                <a:ext uri="{FF2B5EF4-FFF2-40B4-BE49-F238E27FC236}">
                  <a16:creationId xmlns:a16="http://schemas.microsoft.com/office/drawing/2014/main" id="{446C960F-2CA0-5DCE-0C4F-6DAE296BD16E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>
            <a:extLst>
              <a:ext uri="{FF2B5EF4-FFF2-40B4-BE49-F238E27FC236}">
                <a16:creationId xmlns:a16="http://schemas.microsoft.com/office/drawing/2014/main" id="{915BAC13-8FC4-0547-60D3-218F4521C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44" y="189180"/>
            <a:ext cx="3496032" cy="6923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IN" sz="1800" b="1" dirty="0"/>
              <a:t> Project Statistics &amp; Achievements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>
            <a:extLst>
              <a:ext uri="{FF2B5EF4-FFF2-40B4-BE49-F238E27FC236}">
                <a16:creationId xmlns:a16="http://schemas.microsoft.com/office/drawing/2014/main" id="{9CE146B8-3BDB-A4FA-39C3-BC942C9CE64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2341" y="949501"/>
            <a:ext cx="4424677" cy="38394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IN" sz="1100" b="1" dirty="0"/>
              <a:t>Feature Completeness:</a:t>
            </a: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dirty="0"/>
              <a:t>✅ 4 fully functional workflows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✅ Real GPT-4 integration working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✅ Beautiful web interface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✅ Complete API documentation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✅ Docker containerization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✅ CI/CD pipeline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✅ Error handling &amp; fallbacks</a:t>
            </a:r>
          </a:p>
          <a:p>
            <a:pPr>
              <a:lnSpc>
                <a:spcPct val="100000"/>
              </a:lnSpc>
            </a:pP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b="1" dirty="0"/>
              <a:t>Development Stats:</a:t>
            </a: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dirty="0"/>
              <a:t>Built in: 6 days intensive development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Technologies mastered: 6 (Node.js, Express, OpenAI, Docker, Render, Zod)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Git commits: 50+ tracked changes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Test scenarios: 20+ validated</a:t>
            </a:r>
          </a:p>
          <a:p>
            <a:pPr>
              <a:lnSpc>
                <a:spcPct val="100000"/>
              </a:lnSpc>
            </a:pP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b="1" dirty="0"/>
              <a:t>Impact Potential:</a:t>
            </a: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dirty="0"/>
              <a:t>Saves users 30+ minutes daily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Automates 4 common workflows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Reduces app switching by 80%</a:t>
            </a: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5D5AA914-6C6D-D2BA-56B2-BD9CCF77372E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15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2F1A7-A23E-E024-8E7D-981CE315451E}"/>
              </a:ext>
            </a:extLst>
          </p:cNvPr>
          <p:cNvSpPr txBox="1"/>
          <p:nvPr/>
        </p:nvSpPr>
        <p:spPr>
          <a:xfrm>
            <a:off x="180720" y="2254868"/>
            <a:ext cx="35442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100" b="1" dirty="0"/>
              <a:t>Code Metrics:</a:t>
            </a: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b="1" dirty="0"/>
              <a:t>Total Lines of Code</a:t>
            </a:r>
            <a:r>
              <a:rPr lang="en-IN" sz="1100" dirty="0"/>
              <a:t>: 800+ (clean, well-documented)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Files</a:t>
            </a:r>
            <a:r>
              <a:rPr lang="en-IN" sz="1100" dirty="0"/>
              <a:t>: 10 core files (modular architecture)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Functions</a:t>
            </a:r>
            <a:r>
              <a:rPr lang="en-IN" sz="1100" dirty="0"/>
              <a:t>: 15+ workflow and utility functions</a:t>
            </a:r>
          </a:p>
          <a:p>
            <a:pPr>
              <a:lnSpc>
                <a:spcPct val="100000"/>
              </a:lnSpc>
            </a:pPr>
            <a:r>
              <a:rPr lang="en-IN" sz="1100" b="1" dirty="0"/>
              <a:t>Documentation</a:t>
            </a:r>
            <a:r>
              <a:rPr lang="en-IN" sz="1100" dirty="0"/>
              <a:t>: 3 comprehensive guides (README, Architecture, Deployment)</a:t>
            </a:r>
          </a:p>
          <a:p>
            <a:pPr>
              <a:lnSpc>
                <a:spcPct val="100000"/>
              </a:lnSpc>
            </a:pP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b="1" dirty="0"/>
              <a:t>Performance Benchmarks:</a:t>
            </a:r>
            <a:endParaRPr lang="en-IN" sz="1100" dirty="0"/>
          </a:p>
          <a:p>
            <a:pPr>
              <a:lnSpc>
                <a:spcPct val="100000"/>
              </a:lnSpc>
            </a:pPr>
            <a:r>
              <a:rPr lang="en-IN" sz="1100" dirty="0"/>
              <a:t>⚡ Response Time: 2-5 seconds average per workflow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📊 Uptime: 99%+ on production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🚀 Deployment Speed: 2-3 minutes from commit to live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💾 Memory Usage: ~100MB container footprint</a:t>
            </a:r>
          </a:p>
          <a:p>
            <a:pPr>
              <a:lnSpc>
                <a:spcPct val="100000"/>
              </a:lnSpc>
            </a:pPr>
            <a:r>
              <a:rPr lang="en-IN" sz="1100" dirty="0"/>
              <a:t>🔒 Security: 0 vulnerabilities in dependencies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DB5A37-70D1-5FB7-09B0-5ADCBEB5AB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31" y="1094997"/>
            <a:ext cx="3791657" cy="99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09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A9541-3DE2-4E39-33F2-22038513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>
            <a:extLst>
              <a:ext uri="{FF2B5EF4-FFF2-40B4-BE49-F238E27FC236}">
                <a16:creationId xmlns:a16="http://schemas.microsoft.com/office/drawing/2014/main" id="{AD7B780D-BA8B-CEF1-C85B-66844A425A04}"/>
              </a:ext>
            </a:extLst>
          </p:cNvPr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>
              <a:extLst>
                <a:ext uri="{FF2B5EF4-FFF2-40B4-BE49-F238E27FC236}">
                  <a16:creationId xmlns:a16="http://schemas.microsoft.com/office/drawing/2014/main" id="{6774FF42-F7E8-9BC2-21BB-C0A3631494F8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>
              <a:extLst>
                <a:ext uri="{FF2B5EF4-FFF2-40B4-BE49-F238E27FC236}">
                  <a16:creationId xmlns:a16="http://schemas.microsoft.com/office/drawing/2014/main" id="{6262ED3F-9846-BE69-62D6-932062F21FF1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>
              <a:extLst>
                <a:ext uri="{FF2B5EF4-FFF2-40B4-BE49-F238E27FC236}">
                  <a16:creationId xmlns:a16="http://schemas.microsoft.com/office/drawing/2014/main" id="{3BAE67FB-DEDE-E62F-8C83-FFC1E3788A65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>
              <a:extLst>
                <a:ext uri="{FF2B5EF4-FFF2-40B4-BE49-F238E27FC236}">
                  <a16:creationId xmlns:a16="http://schemas.microsoft.com/office/drawing/2014/main" id="{4E3221CB-0370-907F-69FA-7BDE5AC52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>
              <a:extLst>
                <a:ext uri="{FF2B5EF4-FFF2-40B4-BE49-F238E27FC236}">
                  <a16:creationId xmlns:a16="http://schemas.microsoft.com/office/drawing/2014/main" id="{01E7883E-582C-706A-7C77-1108B9BCA023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>
              <a:extLst>
                <a:ext uri="{FF2B5EF4-FFF2-40B4-BE49-F238E27FC236}">
                  <a16:creationId xmlns:a16="http://schemas.microsoft.com/office/drawing/2014/main" id="{4E6BBEBD-9D23-9EEE-053C-029569CC34D6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>
            <a:extLst>
              <a:ext uri="{FF2B5EF4-FFF2-40B4-BE49-F238E27FC236}">
                <a16:creationId xmlns:a16="http://schemas.microsoft.com/office/drawing/2014/main" id="{F189C6EE-352B-201D-6D5D-5A5BA7B1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44" y="189180"/>
            <a:ext cx="3496032" cy="6923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IN" sz="1800" b="1" dirty="0"/>
              <a:t>Future Enhancements &amp; Roadmap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>
            <a:extLst>
              <a:ext uri="{FF2B5EF4-FFF2-40B4-BE49-F238E27FC236}">
                <a16:creationId xmlns:a16="http://schemas.microsoft.com/office/drawing/2014/main" id="{15AEB553-C469-90A2-81B7-913B046EF39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2341" y="949501"/>
            <a:ext cx="4424677" cy="38394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IN" sz="1100" b="1" dirty="0"/>
              <a:t>Advanced Features: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Multi-language Support</a:t>
            </a:r>
            <a:r>
              <a:rPr lang="en-IN" sz="1100" dirty="0"/>
              <a:t> - Process voice notes in 20+ languages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Voice Tone Detection</a:t>
            </a:r>
            <a:r>
              <a:rPr lang="en-IN" sz="1100" dirty="0"/>
              <a:t> - Adjust GPT-4 output based on speaker emotion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Batch Processing</a:t>
            </a:r>
            <a:r>
              <a:rPr lang="en-IN" sz="1100" dirty="0"/>
              <a:t> - Handle multiple voice notes simultaneously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Custom Workflows</a:t>
            </a:r>
            <a:r>
              <a:rPr lang="en-IN" sz="1100" dirty="0"/>
              <a:t> - User-defined automation templates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Webhook Integrations</a:t>
            </a:r>
            <a:r>
              <a:rPr lang="en-IN" sz="1100" dirty="0"/>
              <a:t> - Connect to Zapier, Make, n8n</a:t>
            </a:r>
          </a:p>
          <a:p>
            <a:r>
              <a:rPr lang="en-IN" sz="1100" b="1" dirty="0"/>
              <a:t>Platform Integrations: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Slack/Teams notifications for completed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Trello card creation from tasks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Gmail draft generation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Dropbox document storage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Stripe invoice creation</a:t>
            </a:r>
          </a:p>
          <a:p>
            <a:r>
              <a:rPr lang="en-IN" sz="1100" b="1" dirty="0"/>
              <a:t>AI Improvements: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Fine-tuned models for specific industries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Context memory across sessions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Smart suggestions based on usage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Automatic workflow selection</a:t>
            </a:r>
          </a:p>
          <a:p>
            <a:r>
              <a:rPr lang="en-IN" sz="1100" b="1" dirty="0"/>
              <a:t>Enterprise Features: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Team collaboration and shared workflows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Usage analytics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Custom API rate limits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White-label deployment options</a:t>
            </a: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6DA4522C-FDBD-579C-B01A-63424E840ECF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16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8975E-F40C-EC97-1A0C-3C7997C98DAD}"/>
              </a:ext>
            </a:extLst>
          </p:cNvPr>
          <p:cNvSpPr txBox="1"/>
          <p:nvPr/>
        </p:nvSpPr>
        <p:spPr>
          <a:xfrm>
            <a:off x="230904" y="2834582"/>
            <a:ext cx="354427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Planned Workflow Extensions:</a:t>
            </a:r>
            <a:endParaRPr lang="en-IN" sz="1100" dirty="0"/>
          </a:p>
          <a:p>
            <a:r>
              <a:rPr lang="en-IN" sz="1100" dirty="0"/>
              <a:t>📱 </a:t>
            </a:r>
            <a:r>
              <a:rPr lang="en-IN" sz="1100" b="1" dirty="0"/>
              <a:t>Social Media Posts</a:t>
            </a:r>
            <a:r>
              <a:rPr lang="en-IN" sz="1100" dirty="0"/>
              <a:t> - Voice → Twitter threads, LinkedIn posts, Instagram captions</a:t>
            </a:r>
          </a:p>
          <a:p>
            <a:r>
              <a:rPr lang="en-IN" sz="1100" dirty="0"/>
              <a:t>💻 </a:t>
            </a:r>
            <a:r>
              <a:rPr lang="en-IN" sz="1100" b="1" dirty="0"/>
              <a:t>Code Generation</a:t>
            </a:r>
            <a:r>
              <a:rPr lang="en-IN" sz="1100" dirty="0"/>
              <a:t> - Voice requirements → Working code snippets</a:t>
            </a:r>
          </a:p>
          <a:p>
            <a:r>
              <a:rPr lang="en-IN" sz="1100" dirty="0"/>
              <a:t>📅 </a:t>
            </a:r>
            <a:r>
              <a:rPr lang="en-IN" sz="1100" b="1" dirty="0"/>
              <a:t>Calendar Integration</a:t>
            </a:r>
            <a:r>
              <a:rPr lang="en-IN" sz="1100" dirty="0"/>
              <a:t> - Voice scheduling → Google Calendar events</a:t>
            </a:r>
          </a:p>
          <a:p>
            <a:r>
              <a:rPr lang="en-IN" sz="1100" dirty="0"/>
              <a:t>📊 </a:t>
            </a:r>
            <a:r>
              <a:rPr lang="en-IN" sz="1100" b="1" dirty="0"/>
              <a:t>Data Analysis</a:t>
            </a:r>
            <a:r>
              <a:rPr lang="en-IN" sz="1100" dirty="0"/>
              <a:t> - Voice queries → Charts and insights</a:t>
            </a:r>
          </a:p>
          <a:p>
            <a:r>
              <a:rPr lang="en-IN" sz="1100" dirty="0"/>
              <a:t>🎨 </a:t>
            </a:r>
            <a:r>
              <a:rPr lang="en-IN" sz="1100" b="1" dirty="0"/>
              <a:t>Creative Content</a:t>
            </a:r>
            <a:r>
              <a:rPr lang="en-IN" sz="1100" dirty="0"/>
              <a:t> - Voice ideas → Marketing copy, slogans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7D107-B631-C0CC-26BE-650584CCF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57" y="963623"/>
            <a:ext cx="2815966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69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26AD-9333-5A5C-4B9C-CD64DD639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>
            <a:extLst>
              <a:ext uri="{FF2B5EF4-FFF2-40B4-BE49-F238E27FC236}">
                <a16:creationId xmlns:a16="http://schemas.microsoft.com/office/drawing/2014/main" id="{F81A4869-F146-D587-40D8-77A2EC506F7D}"/>
              </a:ext>
            </a:extLst>
          </p:cNvPr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>
              <a:extLst>
                <a:ext uri="{FF2B5EF4-FFF2-40B4-BE49-F238E27FC236}">
                  <a16:creationId xmlns:a16="http://schemas.microsoft.com/office/drawing/2014/main" id="{80F88C5A-CAD0-5A75-39DB-00035E843C7C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>
              <a:extLst>
                <a:ext uri="{FF2B5EF4-FFF2-40B4-BE49-F238E27FC236}">
                  <a16:creationId xmlns:a16="http://schemas.microsoft.com/office/drawing/2014/main" id="{D886A7C3-3316-4D6E-2176-8635E8B8A40A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>
              <a:extLst>
                <a:ext uri="{FF2B5EF4-FFF2-40B4-BE49-F238E27FC236}">
                  <a16:creationId xmlns:a16="http://schemas.microsoft.com/office/drawing/2014/main" id="{EA43A545-408A-4443-DD37-62EEEE264F33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>
              <a:extLst>
                <a:ext uri="{FF2B5EF4-FFF2-40B4-BE49-F238E27FC236}">
                  <a16:creationId xmlns:a16="http://schemas.microsoft.com/office/drawing/2014/main" id="{B0E7938A-3001-D009-6B43-59CA1AAEA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>
              <a:extLst>
                <a:ext uri="{FF2B5EF4-FFF2-40B4-BE49-F238E27FC236}">
                  <a16:creationId xmlns:a16="http://schemas.microsoft.com/office/drawing/2014/main" id="{07F04709-934F-C8D3-0143-F9105B59F16A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>
              <a:extLst>
                <a:ext uri="{FF2B5EF4-FFF2-40B4-BE49-F238E27FC236}">
                  <a16:creationId xmlns:a16="http://schemas.microsoft.com/office/drawing/2014/main" id="{D2D90173-F37B-5097-E281-7F6CF9B21F9F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>
            <a:extLst>
              <a:ext uri="{FF2B5EF4-FFF2-40B4-BE49-F238E27FC236}">
                <a16:creationId xmlns:a16="http://schemas.microsoft.com/office/drawing/2014/main" id="{CE968652-7233-A988-C6AE-362D5160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44" y="189180"/>
            <a:ext cx="3496032" cy="6923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br>
              <a:rPr lang="en-IN" sz="1800" b="1" dirty="0"/>
            </a:br>
            <a:r>
              <a:rPr lang="en-IN" sz="1800" b="1" dirty="0"/>
              <a:t>Impact &amp; Use Cases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>
            <a:extLst>
              <a:ext uri="{FF2B5EF4-FFF2-40B4-BE49-F238E27FC236}">
                <a16:creationId xmlns:a16="http://schemas.microsoft.com/office/drawing/2014/main" id="{717A3F0C-1352-2528-0002-3BF80FD329D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2341" y="1335608"/>
            <a:ext cx="4424677" cy="30826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endParaRPr lang="en-US" sz="1100" dirty="0"/>
          </a:p>
          <a:p>
            <a:r>
              <a:rPr lang="en-US" sz="1100" b="1" dirty="0"/>
              <a:t>For Remote Teams: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Distributed meetings → Centralized documentation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Async voice updates → Structured summaries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Knowledge preserved automatically</a:t>
            </a:r>
          </a:p>
          <a:p>
            <a:endParaRPr lang="en-US" sz="1100" dirty="0"/>
          </a:p>
          <a:p>
            <a:r>
              <a:rPr lang="en-US" sz="1100" b="1" dirty="0"/>
              <a:t>Time Savings Calculation: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Manual blog writing: 2 hours → Voice + </a:t>
            </a:r>
            <a:r>
              <a:rPr lang="en-US" sz="1100" dirty="0" err="1"/>
              <a:t>SpeakOps</a:t>
            </a:r>
            <a:r>
              <a:rPr lang="en-US" sz="1100" dirty="0"/>
              <a:t>: 5 minutes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Meeting notes transcription: 30 minutes → Automated: 2 seconds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Task organization: 15 minutes → Instant extraction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Email drafting: 10 minutes → Voice to polished: 3 seconds</a:t>
            </a:r>
          </a:p>
          <a:p>
            <a:endParaRPr lang="en-US" sz="1100" dirty="0"/>
          </a:p>
          <a:p>
            <a:r>
              <a:rPr lang="en-US" sz="1100" b="1" dirty="0"/>
              <a:t>ROI for Users: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30+ minutes saved daily</a:t>
            </a:r>
            <a:r>
              <a:rPr lang="en-US" sz="1100" dirty="0"/>
              <a:t> per person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80% reduction</a:t>
            </a:r>
            <a:r>
              <a:rPr lang="en-US" sz="1100" dirty="0"/>
              <a:t> in context switching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10x faster</a:t>
            </a:r>
            <a:r>
              <a:rPr lang="en-US" sz="1100" dirty="0"/>
              <a:t> content creation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100% capture rate</a:t>
            </a:r>
            <a:r>
              <a:rPr lang="en-US" sz="1100" dirty="0"/>
              <a:t> for ideas</a:t>
            </a:r>
          </a:p>
          <a:p>
            <a:endParaRPr lang="en-US" sz="1100" dirty="0"/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151FD971-DEDD-D018-DA52-FB070C72DA3B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17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4002C-1EE4-BDE4-B4CE-931E0F7B0DD9}"/>
              </a:ext>
            </a:extLst>
          </p:cNvPr>
          <p:cNvSpPr txBox="1"/>
          <p:nvPr/>
        </p:nvSpPr>
        <p:spPr>
          <a:xfrm>
            <a:off x="230904" y="1335608"/>
            <a:ext cx="3544272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Real-World Applications:</a:t>
            </a:r>
          </a:p>
          <a:p>
            <a:endParaRPr lang="en-US" sz="1100" dirty="0"/>
          </a:p>
          <a:p>
            <a:r>
              <a:rPr lang="en-US" sz="1100" b="1" dirty="0"/>
              <a:t>For Content Creators: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Record blog ideas while commuting → Published articles by evening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Capture creative thoughts anytime → Never lose inspiration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10x content output with voice-to-blog automation</a:t>
            </a:r>
          </a:p>
          <a:p>
            <a:r>
              <a:rPr lang="en-US" sz="1100" b="1" dirty="0"/>
              <a:t>For Project Managers: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Meeting ends → Tasks automatically in Notion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No manual note-taking during calls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Team always has clear action items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r>
              <a:rPr lang="en-US" sz="1100" b="1" dirty="0"/>
              <a:t>For Business Professionals: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Voice email drafts during lunch breaks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Professional communication in seconds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Focus on relationships, not writing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0431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81237-516A-3CF9-4DC9-85297B34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278;p33">
            <a:extLst>
              <a:ext uri="{FF2B5EF4-FFF2-40B4-BE49-F238E27FC236}">
                <a16:creationId xmlns:a16="http://schemas.microsoft.com/office/drawing/2014/main" id="{D480B18C-8F76-5338-EFCF-85F0FD415395}"/>
              </a:ext>
            </a:extLst>
          </p:cNvPr>
          <p:cNvGrpSpPr/>
          <p:nvPr/>
        </p:nvGrpSpPr>
        <p:grpSpPr>
          <a:xfrm>
            <a:off x="180720" y="94986"/>
            <a:ext cx="8687160" cy="5048514"/>
            <a:chOff x="228600" y="1047366"/>
            <a:chExt cx="8687160" cy="5048514"/>
          </a:xfrm>
        </p:grpSpPr>
        <p:cxnSp>
          <p:nvCxnSpPr>
            <p:cNvPr id="169" name="Google Shape;279;p33">
              <a:extLst>
                <a:ext uri="{FF2B5EF4-FFF2-40B4-BE49-F238E27FC236}">
                  <a16:creationId xmlns:a16="http://schemas.microsoft.com/office/drawing/2014/main" id="{DD0147E1-8B19-7F24-B077-26E98296BEBA}"/>
                </a:ext>
              </a:extLst>
            </p:cNvPr>
            <p:cNvCxnSpPr>
              <a:cxnSpLocks/>
            </p:cNvCxnSpPr>
            <p:nvPr/>
          </p:nvCxnSpPr>
          <p:spPr>
            <a:xfrm>
              <a:off x="4024080" y="1901880"/>
              <a:ext cx="0" cy="419400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0" name="Google Shape;280;p33">
              <a:extLst>
                <a:ext uri="{FF2B5EF4-FFF2-40B4-BE49-F238E27FC236}">
                  <a16:creationId xmlns:a16="http://schemas.microsoft.com/office/drawing/2014/main" id="{09C1CDB6-AD75-25A8-DC0B-C3DB5D9F7169}"/>
                </a:ext>
              </a:extLst>
            </p:cNvPr>
            <p:cNvCxnSpPr/>
            <p:nvPr/>
          </p:nvCxnSpPr>
          <p:spPr>
            <a:xfrm>
              <a:off x="4024080" y="1673280"/>
              <a:ext cx="360" cy="2289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1" name="Google Shape;281;p33">
              <a:extLst>
                <a:ext uri="{FF2B5EF4-FFF2-40B4-BE49-F238E27FC236}">
                  <a16:creationId xmlns:a16="http://schemas.microsoft.com/office/drawing/2014/main" id="{4A829128-D0D8-6762-E37C-ABFFB8087A6A}"/>
                </a:ext>
              </a:extLst>
            </p:cNvPr>
            <p:cNvCxnSpPr/>
            <p:nvPr/>
          </p:nvCxnSpPr>
          <p:spPr>
            <a:xfrm>
              <a:off x="3920760" y="1787760"/>
              <a:ext cx="22896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prstDash val="dot"/>
              <a:round/>
            </a:ln>
          </p:spPr>
        </p:cxnSp>
        <p:cxnSp>
          <p:nvCxnSpPr>
            <p:cNvPr id="172" name="Google Shape;282;p33">
              <a:extLst>
                <a:ext uri="{FF2B5EF4-FFF2-40B4-BE49-F238E27FC236}">
                  <a16:creationId xmlns:a16="http://schemas.microsoft.com/office/drawing/2014/main" id="{AC318E26-E6A7-FAEC-6A27-AF4E0A91A7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4080" y="1047366"/>
              <a:ext cx="12420" cy="607836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3" name="Google Shape;283;p33">
              <a:extLst>
                <a:ext uri="{FF2B5EF4-FFF2-40B4-BE49-F238E27FC236}">
                  <a16:creationId xmlns:a16="http://schemas.microsoft.com/office/drawing/2014/main" id="{895EE183-8565-A82E-5C41-6BE7E9681345}"/>
                </a:ext>
              </a:extLst>
            </p:cNvPr>
            <p:cNvCxnSpPr/>
            <p:nvPr/>
          </p:nvCxnSpPr>
          <p:spPr>
            <a:xfrm>
              <a:off x="228600" y="1787760"/>
              <a:ext cx="369288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  <p:cxnSp>
          <p:nvCxnSpPr>
            <p:cNvPr id="174" name="Google Shape;284;p33">
              <a:extLst>
                <a:ext uri="{FF2B5EF4-FFF2-40B4-BE49-F238E27FC236}">
                  <a16:creationId xmlns:a16="http://schemas.microsoft.com/office/drawing/2014/main" id="{AD739E03-B39A-E38F-F679-F2E61A227FD1}"/>
                </a:ext>
              </a:extLst>
            </p:cNvPr>
            <p:cNvCxnSpPr/>
            <p:nvPr/>
          </p:nvCxnSpPr>
          <p:spPr>
            <a:xfrm>
              <a:off x="4149360" y="1787760"/>
              <a:ext cx="4766400" cy="360"/>
            </a:xfrm>
            <a:prstGeom prst="straightConnector1">
              <a:avLst/>
            </a:prstGeom>
            <a:ln w="9525">
              <a:solidFill>
                <a:srgbClr val="A92422"/>
              </a:solidFill>
              <a:round/>
            </a:ln>
          </p:spPr>
        </p:cxnSp>
      </p:grpSp>
      <p:sp>
        <p:nvSpPr>
          <p:cNvPr id="175" name="PlaceHolder 1">
            <a:extLst>
              <a:ext uri="{FF2B5EF4-FFF2-40B4-BE49-F238E27FC236}">
                <a16:creationId xmlns:a16="http://schemas.microsoft.com/office/drawing/2014/main" id="{D5450C4F-79A0-31F5-CB85-43C788CD9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44" y="189180"/>
            <a:ext cx="3496032" cy="6923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br>
              <a:rPr lang="en-IN" sz="1800" b="1" dirty="0"/>
            </a:br>
            <a:r>
              <a:rPr lang="en-IN" sz="1800" b="1" dirty="0"/>
              <a:t>Impact &amp; Use Cases</a:t>
            </a:r>
            <a:endParaRPr lang="fr-FR" sz="1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>
            <a:extLst>
              <a:ext uri="{FF2B5EF4-FFF2-40B4-BE49-F238E27FC236}">
                <a16:creationId xmlns:a16="http://schemas.microsoft.com/office/drawing/2014/main" id="{B6A9EF88-0C56-78F8-7F59-7DA0FA50B741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272341" y="1335608"/>
            <a:ext cx="4424677" cy="30826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IN" sz="1100" b="1" dirty="0"/>
              <a:t>For Developers &amp; Integration:</a:t>
            </a:r>
          </a:p>
          <a:p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GitHub</a:t>
            </a:r>
            <a:r>
              <a:rPr lang="en-IN" sz="1100" dirty="0"/>
              <a:t>: github.com/</a:t>
            </a:r>
            <a:r>
              <a:rPr lang="en-IN" sz="1100" dirty="0" err="1"/>
              <a:t>SoliVox</a:t>
            </a:r>
            <a:r>
              <a:rPr lang="en-IN" sz="1100" dirty="0"/>
              <a:t>/</a:t>
            </a:r>
            <a:r>
              <a:rPr lang="en-IN" sz="1100" dirty="0" err="1"/>
              <a:t>SpeakOps</a:t>
            </a:r>
            <a:r>
              <a:rPr lang="en-IN" sz="1100" dirty="0"/>
              <a:t>-Action-Automation-from-Spoken-Input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API Docs</a:t>
            </a:r>
            <a:r>
              <a:rPr lang="en-IN" sz="1100" dirty="0"/>
              <a:t>: Complete setup guides in README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Docker Ready</a:t>
            </a:r>
            <a:r>
              <a:rPr lang="en-IN" sz="1100" dirty="0"/>
              <a:t>: One-command deployment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Open Source</a:t>
            </a:r>
            <a:r>
              <a:rPr lang="en-IN" sz="1100" dirty="0"/>
              <a:t>: MIT License</a:t>
            </a:r>
          </a:p>
          <a:p>
            <a:endParaRPr lang="en-IN" sz="1100" dirty="0"/>
          </a:p>
          <a:p>
            <a:r>
              <a:rPr lang="en-IN" sz="1100" b="1" dirty="0"/>
              <a:t>Quick Start:</a:t>
            </a:r>
            <a:endParaRPr lang="en-IN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Visit the live URL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Choose a workflow tab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Enter your text or use examples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Click generate → See results in 3 seconds!</a:t>
            </a:r>
          </a:p>
          <a:p>
            <a:endParaRPr lang="en-IN" sz="1100" dirty="0"/>
          </a:p>
          <a:p>
            <a:r>
              <a:rPr lang="en-IN" sz="1100" b="1" dirty="0"/>
              <a:t>Key Takeaways:</a:t>
            </a:r>
            <a:br>
              <a:rPr lang="en-IN" sz="1100" dirty="0"/>
            </a:br>
            <a:r>
              <a:rPr lang="en-IN" sz="1100" dirty="0"/>
              <a:t>✅ Voice is the fastest input, now with automated execution</a:t>
            </a:r>
            <a:br>
              <a:rPr lang="en-IN" sz="1100" dirty="0"/>
            </a:br>
            <a:r>
              <a:rPr lang="en-IN" sz="1100" dirty="0"/>
              <a:t>✅ GPT-4 powered intelligent processing</a:t>
            </a:r>
            <a:br>
              <a:rPr lang="en-IN" sz="1100" dirty="0"/>
            </a:br>
            <a:r>
              <a:rPr lang="en-IN" sz="1100" dirty="0"/>
              <a:t>✅ Production-ready with 99% uptime</a:t>
            </a:r>
            <a:br>
              <a:rPr lang="en-IN" sz="1100" dirty="0"/>
            </a:br>
            <a:r>
              <a:rPr lang="en-IN" sz="1100" dirty="0"/>
              <a:t>✅ 4 workflows saving 30+ minutes daily</a:t>
            </a: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29B3E7FD-87EC-9AC5-C8BD-C9420E6978CD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A6B4C8A6-6075-4262-BBED-FF09023D1AEB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18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70690-2DCA-3C8E-0795-03887A0D7408}"/>
              </a:ext>
            </a:extLst>
          </p:cNvPr>
          <p:cNvSpPr txBox="1"/>
          <p:nvPr/>
        </p:nvSpPr>
        <p:spPr>
          <a:xfrm>
            <a:off x="230904" y="1335608"/>
            <a:ext cx="354427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🚀 Live Demo - No Setup Required:</a:t>
            </a:r>
          </a:p>
          <a:p>
            <a:br>
              <a:rPr lang="en-IN" sz="1100" dirty="0"/>
            </a:br>
            <a:r>
              <a:rPr lang="en-IN" sz="1100" b="1" dirty="0"/>
              <a:t>Website</a:t>
            </a:r>
            <a:r>
              <a:rPr lang="en-IN" sz="1100" dirty="0"/>
              <a:t>: speakops-action-automation-from-spoken.onrender.com</a:t>
            </a:r>
          </a:p>
          <a:p>
            <a:endParaRPr lang="en-IN" sz="1100" dirty="0"/>
          </a:p>
          <a:p>
            <a:r>
              <a:rPr lang="en-IN" sz="1100" b="1" dirty="0"/>
              <a:t>Test All 4 Workflows Instantly:</a:t>
            </a:r>
            <a:endParaRPr lang="en-IN" sz="1100" dirty="0"/>
          </a:p>
          <a:p>
            <a:r>
              <a:rPr lang="en-IN" sz="1100" dirty="0"/>
              <a:t>📝 Generate a blog post</a:t>
            </a:r>
          </a:p>
          <a:p>
            <a:r>
              <a:rPr lang="en-IN" sz="1100" dirty="0"/>
              <a:t>✅ Extract tasks from notes</a:t>
            </a:r>
          </a:p>
          <a:p>
            <a:r>
              <a:rPr lang="en-IN" sz="1100" dirty="0"/>
              <a:t>📋 Summarize meeting transcripts</a:t>
            </a:r>
          </a:p>
          <a:p>
            <a:r>
              <a:rPr lang="en-IN" sz="1100" dirty="0"/>
              <a:t>📧 Draft professional emails</a:t>
            </a:r>
          </a:p>
        </p:txBody>
      </p:sp>
    </p:spTree>
    <p:extLst>
      <p:ext uri="{BB962C8B-B14F-4D97-AF65-F5344CB8AC3E}">
        <p14:creationId xmlns:p14="http://schemas.microsoft.com/office/powerpoint/2010/main" val="1050303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B52A-4E15-721E-A904-BFD67708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3">
            <a:extLst>
              <a:ext uri="{FF2B5EF4-FFF2-40B4-BE49-F238E27FC236}">
                <a16:creationId xmlns:a16="http://schemas.microsoft.com/office/drawing/2014/main" id="{D6FACEB1-03F0-C02A-2A92-2F2305AF9558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7829640" y="228600"/>
            <a:ext cx="108540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03130108-47C5-4988-AEB2-F4842A29EB2F}" type="slidenum">
              <a:rPr lang="en" sz="1600" b="0" u="none" strike="noStrike">
                <a:solidFill>
                  <a:schemeClr val="accent1"/>
                </a:solidFill>
                <a:effectLst/>
                <a:uFillTx/>
                <a:latin typeface="Gloock"/>
                <a:ea typeface="Gloock"/>
              </a:rPr>
              <a:t>19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985487ED-3E39-73D8-49C1-085086AF4BBB}"/>
              </a:ext>
            </a:extLst>
          </p:cNvPr>
          <p:cNvSpPr txBox="1">
            <a:spLocks/>
          </p:cNvSpPr>
          <p:nvPr/>
        </p:nvSpPr>
        <p:spPr>
          <a:xfrm>
            <a:off x="466245" y="3665777"/>
            <a:ext cx="2621201" cy="11630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b="1" dirty="0">
                <a:solidFill>
                  <a:schemeClr val="dk1"/>
                </a:solidFill>
                <a:latin typeface="Spline Sans"/>
                <a:ea typeface="Spline Sans"/>
              </a:rPr>
              <a:t>Do you have any questions?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dirty="0">
                <a:solidFill>
                  <a:schemeClr val="dk1"/>
                </a:solidFill>
                <a:latin typeface="Spline Sans"/>
                <a:ea typeface="Spline Sans"/>
              </a:rPr>
              <a:t>moon.edp1029@gmail.com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dirty="0">
                <a:solidFill>
                  <a:schemeClr val="dk1"/>
                </a:solidFill>
                <a:latin typeface="Spline Sans"/>
                <a:ea typeface="Spline Sans"/>
              </a:rPr>
              <a:t>+918709480353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dirty="0">
                <a:solidFill>
                  <a:schemeClr val="dk1"/>
                </a:solidFill>
                <a:latin typeface="Spline Sans"/>
              </a:rPr>
              <a:t>Website: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600" b="1" dirty="0"/>
              <a:t>speakops-action-automation-from-spoken.onrender.com</a:t>
            </a:r>
            <a:endParaRPr lang="en-US" sz="3600" b="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27D7C-48AA-8E0B-DA05-EFF9336E59DA}"/>
              </a:ext>
            </a:extLst>
          </p:cNvPr>
          <p:cNvSpPr/>
          <p:nvPr/>
        </p:nvSpPr>
        <p:spPr>
          <a:xfrm>
            <a:off x="2844155" y="2110085"/>
            <a:ext cx="3455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596135"/>
      </p:ext>
    </p:extLst>
  </p:cSld>
  <p:clrMapOvr>
    <a:masterClrMapping/>
  </p:clrMapOvr>
</p:sld>
</file>

<file path=ppt/theme/theme1.xml><?xml version="1.0" encoding="utf-8"?>
<a:theme xmlns:a="http://schemas.openxmlformats.org/drawingml/2006/main" name="SWOT Analysis by Slidesgo">
  <a:themeElements>
    <a:clrScheme name="Simple Light">
      <a:dk1>
        <a:srgbClr val="181818"/>
      </a:dk1>
      <a:lt1>
        <a:srgbClr val="E5E2D9"/>
      </a:lt1>
      <a:dk2>
        <a:srgbClr val="181818"/>
      </a:dk2>
      <a:lt2>
        <a:srgbClr val="FDFAFA"/>
      </a:lt2>
      <a:accent1>
        <a:srgbClr val="A9242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Words>2372</Words>
  <Application>Microsoft Office PowerPoint</Application>
  <PresentationFormat>On-screen Show (16:9)</PresentationFormat>
  <Paragraphs>404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Gloock</vt:lpstr>
      <vt:lpstr>OpenSymbol</vt:lpstr>
      <vt:lpstr>Segoe WPC</vt:lpstr>
      <vt:lpstr>Spline Sans</vt:lpstr>
      <vt:lpstr>Symbol</vt:lpstr>
      <vt:lpstr>Wingdings</vt:lpstr>
      <vt:lpstr>SWOT Analysis by Slidesgo</vt:lpstr>
      <vt:lpstr>Slidesgo Final Pages</vt:lpstr>
      <vt:lpstr>SpeakOps : Voice Note to Action Automation</vt:lpstr>
      <vt:lpstr>Problem with voice notes utilization</vt:lpstr>
      <vt:lpstr>Introduction</vt:lpstr>
      <vt:lpstr>System Architecture</vt:lpstr>
      <vt:lpstr>Workflow 1- Blog Post Generator</vt:lpstr>
      <vt:lpstr>Workflow 2- Task Extraction</vt:lpstr>
      <vt:lpstr>Workflow 3- Meeting Notes</vt:lpstr>
      <vt:lpstr>Workflow 4- Email Draft</vt:lpstr>
      <vt:lpstr>Workflow 1 &amp; 2- Blog Post Generator &amp; Text Extraction(Visuals)</vt:lpstr>
      <vt:lpstr>Workflow 3 &amp; 4- Meeting Notes &amp; Email Draft (Visuals)</vt:lpstr>
      <vt:lpstr>Technical Features &amp; Security</vt:lpstr>
      <vt:lpstr>Live Demo &amp; Web Interface</vt:lpstr>
      <vt:lpstr>Deployment &amp; Infrastructure</vt:lpstr>
      <vt:lpstr>Testing &amp; Validation</vt:lpstr>
      <vt:lpstr> Project Statistics &amp; Achievements</vt:lpstr>
      <vt:lpstr>Future Enhancements &amp; Roadmap</vt:lpstr>
      <vt:lpstr> Impact &amp; Use Cases</vt:lpstr>
      <vt:lpstr> Impact &amp; Use Cases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Nayan Shukla</cp:lastModifiedBy>
  <cp:revision>2</cp:revision>
  <dcterms:modified xsi:type="dcterms:W3CDTF">2025-12-14T17:49:57Z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2025-12-14T14:51:08Z</dcterms:created>
  <dc:creator>Unknown Creator</dc:creator>
  <dc:description/>
  <dc:language>en-US</dc:language>
  <cp:lastModifiedBy>Unknown Creator</cp:lastModifiedBy>
  <dcterms:modified xsi:type="dcterms:W3CDTF">2025-12-14T14:51:08Z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